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8.jpg" ContentType="image/jpg"/>
  <Override PartName="/ppt/media/image10.jpg" ContentType="image/jpg"/>
  <Override PartName="/ppt/media/image12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2"/>
    <p:sldId id="26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56" y="1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1473200"/>
            <a:ext cx="10255250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375" y="2525712"/>
            <a:ext cx="5923280" cy="3179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E7AD-D26E-3D33-D5DF-F4D63B6D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1473200"/>
            <a:ext cx="10255250" cy="51552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NVIDIA’S BLUE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9444E-B137-A289-C538-274E3EBA4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2525711"/>
            <a:ext cx="5923280" cy="276998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Atul Kumar Sharma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Ankit Chaudhari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Anurag Singh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Krishna</a:t>
            </a:r>
            <a:r>
              <a:rPr lang="en-IN" sz="2000" dirty="0"/>
              <a:t> Yadav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Utkarsh Tripathi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FB324-F825-2332-A8C0-09698CB2006F}"/>
              </a:ext>
            </a:extLst>
          </p:cNvPr>
          <p:cNvSpPr txBox="1"/>
          <p:nvPr/>
        </p:nvSpPr>
        <p:spPr>
          <a:xfrm>
            <a:off x="9753600" y="5891252"/>
            <a:ext cx="335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2"/>
                </a:solidFill>
              </a:rPr>
              <a:t>B.Tech CSE (AI)</a:t>
            </a:r>
            <a:r>
              <a:rPr lang="en-IN" sz="1000" dirty="0">
                <a:solidFill>
                  <a:schemeClr val="bg2"/>
                </a:solidFill>
              </a:rPr>
              <a:t> 3</a:t>
            </a:r>
            <a:r>
              <a:rPr lang="en-IN" sz="1000" baseline="30000" dirty="0">
                <a:solidFill>
                  <a:schemeClr val="bg2"/>
                </a:solidFill>
              </a:rPr>
              <a:t>RD</a:t>
            </a:r>
            <a:r>
              <a:rPr lang="en-IN" sz="1000" dirty="0">
                <a:solidFill>
                  <a:schemeClr val="bg2"/>
                </a:solidFill>
              </a:rPr>
              <a:t> YEAR</a:t>
            </a:r>
          </a:p>
          <a:p>
            <a:r>
              <a:rPr lang="en-IN" sz="1000" dirty="0">
                <a:solidFill>
                  <a:schemeClr val="bg2"/>
                </a:solidFill>
              </a:rPr>
              <a:t>CSAI(32)</a:t>
            </a:r>
          </a:p>
          <a:p>
            <a:r>
              <a:rPr lang="en-IN" sz="1000" dirty="0">
                <a:solidFill>
                  <a:schemeClr val="bg2"/>
                </a:solidFill>
              </a:rPr>
              <a:t>SEMINAR</a:t>
            </a:r>
            <a:endParaRPr lang="en-US" sz="1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08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7E273C-99BE-F774-5ABB-F5C51338A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0"/>
            <a:ext cx="6400800" cy="2994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D34B3C-B2E3-3E0A-53BA-C56ABE42D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994025"/>
            <a:ext cx="2514600" cy="2689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B032F5-B325-4CE0-DFAB-A56241E71B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017" y="2994025"/>
            <a:ext cx="3083983" cy="2689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9D0BBB-375E-87AF-AC32-9704B1841583}"/>
              </a:ext>
            </a:extLst>
          </p:cNvPr>
          <p:cNvSpPr txBox="1"/>
          <p:nvPr/>
        </p:nvSpPr>
        <p:spPr>
          <a:xfrm>
            <a:off x="3505200" y="3375025"/>
            <a:ext cx="40788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WISDOM OF YODA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COURAGE OF BB8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HEART OF WALL E</a:t>
            </a:r>
          </a:p>
          <a:p>
            <a:pPr algn="ctr"/>
            <a:endParaRPr lang="en-US" dirty="0">
              <a:solidFill>
                <a:schemeClr val="accent1"/>
              </a:solidFill>
            </a:endParaRPr>
          </a:p>
          <a:p>
            <a:pPr algn="ctr"/>
            <a:endParaRPr lang="en-US" dirty="0">
              <a:solidFill>
                <a:schemeClr val="accent1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BLUE:THE DROID AWAKENS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855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2225675"/>
            <a:ext cx="5605145" cy="111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spc="-260" dirty="0"/>
              <a:t>NVIDIA</a:t>
            </a:r>
            <a:r>
              <a:rPr spc="-365" dirty="0"/>
              <a:t> </a:t>
            </a:r>
            <a:r>
              <a:rPr spc="-120" dirty="0"/>
              <a:t>BLUE</a:t>
            </a:r>
            <a:r>
              <a:rPr spc="-365" dirty="0"/>
              <a:t> </a:t>
            </a:r>
            <a:r>
              <a:rPr spc="114" dirty="0"/>
              <a:t>-</a:t>
            </a:r>
            <a:r>
              <a:rPr spc="-360" dirty="0"/>
              <a:t> </a:t>
            </a:r>
            <a:r>
              <a:rPr spc="-30" dirty="0"/>
              <a:t>The</a:t>
            </a:r>
            <a:r>
              <a:rPr spc="-365" dirty="0"/>
              <a:t> </a:t>
            </a:r>
            <a:r>
              <a:rPr spc="-180" dirty="0"/>
              <a:t>Future</a:t>
            </a:r>
            <a:r>
              <a:rPr spc="-365" dirty="0"/>
              <a:t> </a:t>
            </a:r>
            <a:r>
              <a:rPr spc="-25" dirty="0"/>
              <a:t>of </a:t>
            </a:r>
            <a:r>
              <a:rPr spc="-145" dirty="0"/>
              <a:t>Robots</a:t>
            </a:r>
            <a:r>
              <a:rPr spc="-360" dirty="0"/>
              <a:t> </a:t>
            </a:r>
            <a:r>
              <a:rPr spc="-35" dirty="0"/>
              <a:t>is</a:t>
            </a:r>
            <a:r>
              <a:rPr spc="-355" dirty="0"/>
              <a:t> </a:t>
            </a:r>
            <a:r>
              <a:rPr spc="-20" dirty="0"/>
              <a:t>Here!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73625" y="3545840"/>
            <a:ext cx="546798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Explore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E5E0DF"/>
                </a:solidFill>
                <a:latin typeface="Verdana"/>
                <a:cs typeface="Verdana"/>
              </a:rPr>
              <a:t>the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E5E0DF"/>
                </a:solidFill>
                <a:latin typeface="Verdana"/>
                <a:cs typeface="Verdana"/>
              </a:rPr>
              <a:t>next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generation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Verdana"/>
                <a:cs typeface="Verdana"/>
              </a:rPr>
              <a:t>of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lifelike</a:t>
            </a:r>
            <a:r>
              <a:rPr sz="1350" spc="-10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robots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E5E0DF"/>
                </a:solidFill>
                <a:latin typeface="Verdana"/>
                <a:cs typeface="Verdana"/>
              </a:rPr>
              <a:t>blending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130" dirty="0">
                <a:solidFill>
                  <a:srgbClr val="E5E0DF"/>
                </a:solidFill>
                <a:latin typeface="Verdana"/>
                <a:cs typeface="Verdana"/>
              </a:rPr>
              <a:t>AI,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E5E0DF"/>
                </a:solidFill>
                <a:latin typeface="Verdana"/>
                <a:cs typeface="Verdana"/>
              </a:rPr>
              <a:t>emotion,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Verdana"/>
                <a:cs typeface="Verdana"/>
              </a:rPr>
              <a:t>and </a:t>
            </a:r>
            <a:r>
              <a:rPr sz="1350" spc="-40" dirty="0">
                <a:solidFill>
                  <a:srgbClr val="E5E0DF"/>
                </a:solidFill>
                <a:latin typeface="Verdana"/>
                <a:cs typeface="Verdana"/>
              </a:rPr>
              <a:t>iconic</a:t>
            </a:r>
            <a:r>
              <a:rPr sz="1350" spc="-9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Verdana"/>
                <a:cs typeface="Verdana"/>
              </a:rPr>
              <a:t>storytelling.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5" name="object 5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2183D6-F9E2-28C6-316B-E36167A5E1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4721225" cy="64452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2A88FA2-8BFF-0DD5-965F-7AEB616F660E}"/>
              </a:ext>
            </a:extLst>
          </p:cNvPr>
          <p:cNvSpPr/>
          <p:nvPr/>
        </p:nvSpPr>
        <p:spPr>
          <a:xfrm>
            <a:off x="9372600" y="5737225"/>
            <a:ext cx="2057400" cy="6079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298950" marR="5080">
              <a:lnSpc>
                <a:spcPts val="4200"/>
              </a:lnSpc>
              <a:spcBef>
                <a:spcPts val="50"/>
              </a:spcBef>
            </a:pPr>
            <a:r>
              <a:rPr spc="-114" dirty="0"/>
              <a:t>Welcome</a:t>
            </a:r>
            <a:r>
              <a:rPr spc="-350" dirty="0"/>
              <a:t> </a:t>
            </a:r>
            <a:r>
              <a:rPr spc="-150" dirty="0"/>
              <a:t>to</a:t>
            </a:r>
            <a:r>
              <a:rPr spc="-350" dirty="0"/>
              <a:t> </a:t>
            </a:r>
            <a:r>
              <a:rPr spc="-140" dirty="0"/>
              <a:t>the</a:t>
            </a:r>
            <a:r>
              <a:rPr spc="-350" dirty="0"/>
              <a:t> </a:t>
            </a:r>
            <a:r>
              <a:rPr spc="-145" dirty="0"/>
              <a:t>World</a:t>
            </a:r>
            <a:r>
              <a:rPr spc="-350" dirty="0"/>
              <a:t> </a:t>
            </a:r>
            <a:r>
              <a:rPr spc="-25" dirty="0"/>
              <a:t>of </a:t>
            </a:r>
            <a:r>
              <a:rPr spc="-10" dirty="0"/>
              <a:t>BLUE!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86325" y="3019424"/>
            <a:ext cx="390525" cy="381000"/>
            <a:chOff x="4886325" y="3019424"/>
            <a:chExt cx="390525" cy="381000"/>
          </a:xfrm>
        </p:grpSpPr>
        <p:sp>
          <p:nvSpPr>
            <p:cNvPr id="5" name="object 5"/>
            <p:cNvSpPr/>
            <p:nvPr/>
          </p:nvSpPr>
          <p:spPr>
            <a:xfrm>
              <a:off x="4891087" y="3024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5" y="357860"/>
                  </a:lnTo>
                  <a:lnTo>
                    <a:pt x="51612" y="371475"/>
                  </a:lnTo>
                  <a:lnTo>
                    <a:pt x="329387" y="371475"/>
                  </a:lnTo>
                  <a:lnTo>
                    <a:pt x="367385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91087" y="3024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76796" y="3409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34" y="330568"/>
                  </a:lnTo>
                  <a:lnTo>
                    <a:pt x="356450" y="362165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30837" y="3001962"/>
            <a:ext cx="2334260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90" dirty="0">
                <a:solidFill>
                  <a:srgbClr val="E5E0DF"/>
                </a:solidFill>
                <a:latin typeface="Tahoma"/>
                <a:cs typeface="Tahoma"/>
              </a:rPr>
              <a:t>Introducing </a:t>
            </a:r>
            <a:r>
              <a:rPr sz="1650" b="1" spc="-20" dirty="0">
                <a:solidFill>
                  <a:srgbClr val="E5E0DF"/>
                </a:solidFill>
                <a:latin typeface="Tahoma"/>
                <a:cs typeface="Tahoma"/>
              </a:rPr>
              <a:t>BLUE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sz="1350" spc="-90" dirty="0">
                <a:solidFill>
                  <a:srgbClr val="E5E0DF"/>
                </a:solidFill>
                <a:latin typeface="Verdana"/>
                <a:cs typeface="Verdana"/>
              </a:rPr>
              <a:t>Collaboration:</a:t>
            </a:r>
            <a:r>
              <a:rPr sz="1350" spc="-6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NVIDIA,</a:t>
            </a:r>
            <a:r>
              <a:rPr sz="1350" spc="-6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E5E0DF"/>
                </a:solidFill>
                <a:latin typeface="Verdana"/>
                <a:cs typeface="Verdana"/>
              </a:rPr>
              <a:t>Disney </a:t>
            </a:r>
            <a:r>
              <a:rPr sz="1350" spc="-70" dirty="0">
                <a:solidFill>
                  <a:srgbClr val="E5E0DF"/>
                </a:solidFill>
                <a:latin typeface="Verdana"/>
                <a:cs typeface="Verdana"/>
              </a:rPr>
              <a:t>Research,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E5E0DF"/>
                </a:solidFill>
                <a:latin typeface="Verdana"/>
                <a:cs typeface="Verdana"/>
              </a:rPr>
              <a:t>Google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Verdana"/>
                <a:cs typeface="Verdana"/>
              </a:rPr>
              <a:t>DeepMind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43850" y="3019424"/>
            <a:ext cx="390525" cy="381000"/>
            <a:chOff x="7943850" y="3019424"/>
            <a:chExt cx="390525" cy="381000"/>
          </a:xfrm>
        </p:grpSpPr>
        <p:sp>
          <p:nvSpPr>
            <p:cNvPr id="9" name="object 9"/>
            <p:cNvSpPr/>
            <p:nvPr/>
          </p:nvSpPr>
          <p:spPr>
            <a:xfrm>
              <a:off x="7948612" y="3024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5" y="357860"/>
                  </a:lnTo>
                  <a:lnTo>
                    <a:pt x="51612" y="371475"/>
                  </a:lnTo>
                  <a:lnTo>
                    <a:pt x="329387" y="371475"/>
                  </a:lnTo>
                  <a:lnTo>
                    <a:pt x="367385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48612" y="3024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53428" y="7289"/>
                  </a:lnTo>
                  <a:lnTo>
                    <a:pt x="356438" y="9309"/>
                  </a:lnTo>
                  <a:lnTo>
                    <a:pt x="359460" y="11328"/>
                  </a:lnTo>
                  <a:lnTo>
                    <a:pt x="362254" y="13614"/>
                  </a:lnTo>
                  <a:lnTo>
                    <a:pt x="364820" y="16179"/>
                  </a:lnTo>
                  <a:lnTo>
                    <a:pt x="367385" y="18745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34" y="330568"/>
                  </a:lnTo>
                  <a:lnTo>
                    <a:pt x="364820" y="355295"/>
                  </a:lnTo>
                  <a:lnTo>
                    <a:pt x="362254" y="357860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16179" y="355295"/>
                  </a:lnTo>
                  <a:lnTo>
                    <a:pt x="13614" y="352729"/>
                  </a:lnTo>
                  <a:lnTo>
                    <a:pt x="11328" y="349935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5588" y="340728"/>
                  </a:lnTo>
                  <a:lnTo>
                    <a:pt x="4203" y="337375"/>
                  </a:lnTo>
                  <a:lnTo>
                    <a:pt x="2819" y="334022"/>
                  </a:lnTo>
                  <a:lnTo>
                    <a:pt x="1765" y="330568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488362" y="3001962"/>
            <a:ext cx="2122170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60" dirty="0">
                <a:solidFill>
                  <a:srgbClr val="E5E0DF"/>
                </a:solidFill>
                <a:latin typeface="Tahoma"/>
                <a:cs typeface="Tahoma"/>
              </a:rPr>
              <a:t>First</a:t>
            </a:r>
            <a:r>
              <a:rPr sz="1650" b="1" spc="-145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Debut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sz="1350" spc="-55" dirty="0">
                <a:solidFill>
                  <a:srgbClr val="E5E0DF"/>
                </a:solidFill>
                <a:latin typeface="Verdana"/>
                <a:cs typeface="Verdana"/>
              </a:rPr>
              <a:t>Showcased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E5E0DF"/>
                </a:solidFill>
                <a:latin typeface="Verdana"/>
                <a:cs typeface="Verdana"/>
              </a:rPr>
              <a:t>at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 NVIDIA </a:t>
            </a:r>
            <a:r>
              <a:rPr sz="1350" spc="-25" dirty="0">
                <a:solidFill>
                  <a:srgbClr val="E5E0DF"/>
                </a:solidFill>
                <a:latin typeface="Verdana"/>
                <a:cs typeface="Verdana"/>
              </a:rPr>
              <a:t>GTC </a:t>
            </a:r>
            <a:r>
              <a:rPr sz="1350" spc="-20" dirty="0">
                <a:solidFill>
                  <a:srgbClr val="E5E0DF"/>
                </a:solidFill>
                <a:latin typeface="Verdana"/>
                <a:cs typeface="Verdana"/>
              </a:rPr>
              <a:t>2025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86325" y="4295775"/>
            <a:ext cx="390525" cy="390525"/>
            <a:chOff x="4886325" y="4295775"/>
            <a:chExt cx="390525" cy="390525"/>
          </a:xfrm>
        </p:grpSpPr>
        <p:sp>
          <p:nvSpPr>
            <p:cNvPr id="13" name="object 13"/>
            <p:cNvSpPr/>
            <p:nvPr/>
          </p:nvSpPr>
          <p:spPr>
            <a:xfrm>
              <a:off x="4891087" y="43005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5" y="367385"/>
                  </a:lnTo>
                  <a:lnTo>
                    <a:pt x="51612" y="381000"/>
                  </a:lnTo>
                  <a:lnTo>
                    <a:pt x="329387" y="381000"/>
                  </a:lnTo>
                  <a:lnTo>
                    <a:pt x="367385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91087" y="43005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76796" y="3409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4" y="332968"/>
                  </a:lnTo>
                  <a:lnTo>
                    <a:pt x="379933" y="336537"/>
                  </a:lnTo>
                  <a:lnTo>
                    <a:pt x="379234" y="340093"/>
                  </a:lnTo>
                  <a:lnTo>
                    <a:pt x="356450" y="371690"/>
                  </a:lnTo>
                  <a:lnTo>
                    <a:pt x="336524" y="379933"/>
                  </a:lnTo>
                  <a:lnTo>
                    <a:pt x="332968" y="380644"/>
                  </a:lnTo>
                  <a:lnTo>
                    <a:pt x="329387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18" y="380644"/>
                  </a:lnTo>
                  <a:lnTo>
                    <a:pt x="44462" y="379933"/>
                  </a:lnTo>
                  <a:lnTo>
                    <a:pt x="40906" y="379234"/>
                  </a:lnTo>
                  <a:lnTo>
                    <a:pt x="9309" y="356438"/>
                  </a:lnTo>
                  <a:lnTo>
                    <a:pt x="7289" y="353428"/>
                  </a:lnTo>
                  <a:lnTo>
                    <a:pt x="1066" y="336537"/>
                  </a:lnTo>
                  <a:lnTo>
                    <a:pt x="355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430837" y="4278312"/>
            <a:ext cx="2578100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70" dirty="0">
                <a:solidFill>
                  <a:srgbClr val="E5E0DF"/>
                </a:solidFill>
                <a:latin typeface="Tahoma"/>
                <a:cs typeface="Tahoma"/>
              </a:rPr>
              <a:t>Next-</a:t>
            </a:r>
            <a:r>
              <a:rPr sz="1650" b="1" spc="-20" dirty="0">
                <a:solidFill>
                  <a:srgbClr val="E5E0DF"/>
                </a:solidFill>
                <a:latin typeface="Tahoma"/>
                <a:cs typeface="Tahoma"/>
              </a:rPr>
              <a:t>Gen</a:t>
            </a:r>
            <a:r>
              <a:rPr sz="1650" b="1" spc="-130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20" dirty="0">
                <a:solidFill>
                  <a:srgbClr val="E5E0DF"/>
                </a:solidFill>
                <a:latin typeface="Tahoma"/>
                <a:cs typeface="Tahoma"/>
              </a:rPr>
              <a:t>Droid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100" dirty="0">
                <a:solidFill>
                  <a:srgbClr val="E5E0DF"/>
                </a:solidFill>
                <a:latin typeface="Verdana"/>
                <a:cs typeface="Verdana"/>
              </a:rPr>
              <a:t>Emotion,</a:t>
            </a: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 expression,</a:t>
            </a:r>
            <a:r>
              <a:rPr sz="1350" spc="-7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E5E0DF"/>
                </a:solidFill>
                <a:latin typeface="Verdana"/>
                <a:cs typeface="Verdana"/>
              </a:rPr>
              <a:t>intelligence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6" name="object 16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7103AF-BB13-2963-3A3D-3FE7B0487C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9" y="0"/>
            <a:ext cx="4675823" cy="644525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51A518B-8F0B-9124-F8ED-C8CF76E6EAA5}"/>
              </a:ext>
            </a:extLst>
          </p:cNvPr>
          <p:cNvSpPr/>
          <p:nvPr/>
        </p:nvSpPr>
        <p:spPr>
          <a:xfrm>
            <a:off x="9448800" y="5813425"/>
            <a:ext cx="1949451" cy="6318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673100"/>
            <a:ext cx="539813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Who</a:t>
            </a:r>
            <a:r>
              <a:rPr spc="-355" dirty="0"/>
              <a:t> </a:t>
            </a:r>
            <a:r>
              <a:rPr spc="-60" dirty="0"/>
              <a:t>Made</a:t>
            </a:r>
            <a:r>
              <a:rPr spc="-355" dirty="0"/>
              <a:t> </a:t>
            </a:r>
            <a:r>
              <a:rPr spc="-120" dirty="0"/>
              <a:t>BLUE</a:t>
            </a:r>
            <a:r>
              <a:rPr spc="-355" dirty="0"/>
              <a:t> </a:t>
            </a:r>
            <a:r>
              <a:rPr spc="-120" dirty="0"/>
              <a:t>and</a:t>
            </a:r>
            <a:r>
              <a:rPr spc="-355" dirty="0"/>
              <a:t> </a:t>
            </a:r>
            <a:r>
              <a:rPr spc="-20" dirty="0"/>
              <a:t>Why?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5" y="1639887"/>
            <a:ext cx="1871980" cy="6934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FFFFFF"/>
                </a:solidFill>
                <a:latin typeface="Tahoma"/>
                <a:cs typeface="Tahoma"/>
              </a:rPr>
              <a:t>NVIDIA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1350" spc="-125" dirty="0">
                <a:solidFill>
                  <a:srgbClr val="E5E0DF"/>
                </a:solidFill>
                <a:latin typeface="Verdana"/>
                <a:cs typeface="Verdana"/>
              </a:rPr>
              <a:t>AI 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&amp;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E5E0DF"/>
                </a:solidFill>
                <a:latin typeface="Verdana"/>
                <a:cs typeface="Verdana"/>
              </a:rPr>
              <a:t>robotics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E5E0DF"/>
                </a:solidFill>
                <a:latin typeface="Verdana"/>
                <a:cs typeface="Verdana"/>
              </a:rPr>
              <a:t>leadership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8612" y="1639887"/>
            <a:ext cx="2646680" cy="6934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40" dirty="0">
                <a:solidFill>
                  <a:srgbClr val="FFFFFF"/>
                </a:solidFill>
                <a:latin typeface="Tahoma"/>
                <a:cs typeface="Tahoma"/>
              </a:rPr>
              <a:t>Disney</a:t>
            </a:r>
            <a:r>
              <a:rPr sz="1650" b="1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Tahoma"/>
                <a:cs typeface="Tahoma"/>
              </a:rPr>
              <a:t>Research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1350" spc="-85" dirty="0">
                <a:solidFill>
                  <a:srgbClr val="E5E0DF"/>
                </a:solidFill>
                <a:latin typeface="Verdana"/>
                <a:cs typeface="Verdana"/>
              </a:rPr>
              <a:t>Storytelling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&amp;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E5E0DF"/>
                </a:solidFill>
                <a:latin typeface="Verdana"/>
                <a:cs typeface="Verdana"/>
              </a:rPr>
              <a:t>character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animation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9362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Google</a:t>
            </a:r>
            <a:r>
              <a:rPr spc="-140" dirty="0"/>
              <a:t> </a:t>
            </a:r>
            <a:r>
              <a:rPr spc="-10" dirty="0"/>
              <a:t>DeepMind</a:t>
            </a:r>
          </a:p>
          <a:p>
            <a:pPr marL="2293620">
              <a:lnSpc>
                <a:spcPct val="100000"/>
              </a:lnSpc>
              <a:spcBef>
                <a:spcPts val="1620"/>
              </a:spcBef>
            </a:pPr>
            <a:r>
              <a:rPr sz="1350" b="0" spc="-50" dirty="0">
                <a:solidFill>
                  <a:srgbClr val="E5E0DF"/>
                </a:solidFill>
                <a:latin typeface="Verdana"/>
                <a:cs typeface="Verdana"/>
              </a:rPr>
              <a:t>Advanced</a:t>
            </a:r>
            <a:r>
              <a:rPr sz="1350" b="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75" dirty="0">
                <a:solidFill>
                  <a:srgbClr val="E5E0DF"/>
                </a:solidFill>
                <a:latin typeface="Verdana"/>
                <a:cs typeface="Verdana"/>
              </a:rPr>
              <a:t>machine</a:t>
            </a:r>
            <a:r>
              <a:rPr sz="1350" b="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10" dirty="0">
                <a:solidFill>
                  <a:srgbClr val="E5E0DF"/>
                </a:solidFill>
                <a:latin typeface="Verdana"/>
                <a:cs typeface="Verdana"/>
              </a:rPr>
              <a:t>learning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350">
              <a:latin typeface="Verdana"/>
              <a:cs typeface="Verdana"/>
            </a:endParaRPr>
          </a:p>
          <a:p>
            <a:pPr marL="2293620">
              <a:lnSpc>
                <a:spcPct val="100000"/>
              </a:lnSpc>
            </a:pPr>
            <a:r>
              <a:rPr spc="-20" dirty="0"/>
              <a:t>Goal</a:t>
            </a:r>
          </a:p>
          <a:p>
            <a:pPr marL="2293620" marR="1438275">
              <a:lnSpc>
                <a:spcPts val="3379"/>
              </a:lnSpc>
              <a:spcBef>
                <a:spcPts val="265"/>
              </a:spcBef>
            </a:pPr>
            <a:r>
              <a:rPr sz="1350" b="0" spc="-75" dirty="0">
                <a:solidFill>
                  <a:srgbClr val="E5E0DF"/>
                </a:solidFill>
                <a:latin typeface="Verdana"/>
                <a:cs typeface="Verdana"/>
              </a:rPr>
              <a:t>Real-</a:t>
            </a:r>
            <a:r>
              <a:rPr sz="1350" b="0" spc="-60" dirty="0">
                <a:solidFill>
                  <a:srgbClr val="E5E0DF"/>
                </a:solidFill>
                <a:latin typeface="Verdana"/>
                <a:cs typeface="Verdana"/>
              </a:rPr>
              <a:t>life</a:t>
            </a:r>
            <a:r>
              <a:rPr sz="1350" b="0" spc="-9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70" dirty="0">
                <a:solidFill>
                  <a:srgbClr val="E5E0DF"/>
                </a:solidFill>
                <a:latin typeface="Verdana"/>
                <a:cs typeface="Verdana"/>
              </a:rPr>
              <a:t>expressive</a:t>
            </a:r>
            <a:r>
              <a:rPr sz="1350" b="0" spc="-9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10" dirty="0">
                <a:solidFill>
                  <a:srgbClr val="E5E0DF"/>
                </a:solidFill>
                <a:latin typeface="Verdana"/>
                <a:cs typeface="Verdana"/>
              </a:rPr>
              <a:t>robots </a:t>
            </a:r>
            <a:r>
              <a:rPr sz="1350" b="0" spc="-90" dirty="0">
                <a:solidFill>
                  <a:srgbClr val="E5E0DF"/>
                </a:solidFill>
                <a:latin typeface="Verdana"/>
                <a:cs typeface="Verdana"/>
              </a:rPr>
              <a:t>Inspired</a:t>
            </a:r>
            <a:r>
              <a:rPr sz="1350" b="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65" dirty="0">
                <a:solidFill>
                  <a:srgbClr val="E5E0DF"/>
                </a:solidFill>
                <a:latin typeface="Verdana"/>
                <a:cs typeface="Verdana"/>
              </a:rPr>
              <a:t>by</a:t>
            </a:r>
            <a:r>
              <a:rPr sz="1350" b="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100" dirty="0">
                <a:solidFill>
                  <a:srgbClr val="E5E0DF"/>
                </a:solidFill>
                <a:latin typeface="Verdana"/>
                <a:cs typeface="Verdana"/>
              </a:rPr>
              <a:t>Star</a:t>
            </a:r>
            <a:r>
              <a:rPr sz="1350" b="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80" dirty="0">
                <a:solidFill>
                  <a:srgbClr val="E5E0DF"/>
                </a:solidFill>
                <a:latin typeface="Verdana"/>
                <a:cs typeface="Verdana"/>
              </a:rPr>
              <a:t>Wars</a:t>
            </a:r>
            <a:r>
              <a:rPr sz="1350" b="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45" dirty="0">
                <a:solidFill>
                  <a:srgbClr val="E5E0DF"/>
                </a:solidFill>
                <a:latin typeface="Verdana"/>
                <a:cs typeface="Verdana"/>
              </a:rPr>
              <a:t>magic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350">
              <a:latin typeface="Verdana"/>
              <a:cs typeface="Verdana"/>
            </a:endParaRPr>
          </a:p>
          <a:p>
            <a:pPr marL="12700" marR="5080">
              <a:lnSpc>
                <a:spcPct val="131900"/>
              </a:lnSpc>
              <a:spcBef>
                <a:spcPts val="5"/>
              </a:spcBef>
            </a:pPr>
            <a:r>
              <a:rPr sz="1350" b="0" spc="-40" dirty="0">
                <a:solidFill>
                  <a:srgbClr val="E5E0DF"/>
                </a:solidFill>
                <a:latin typeface="Verdana"/>
                <a:cs typeface="Verdana"/>
              </a:rPr>
              <a:t>The</a:t>
            </a:r>
            <a:r>
              <a:rPr sz="1350" b="0" spc="-10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75" dirty="0">
                <a:solidFill>
                  <a:srgbClr val="E5E0DF"/>
                </a:solidFill>
                <a:latin typeface="Verdana"/>
                <a:cs typeface="Verdana"/>
              </a:rPr>
              <a:t>partnership</a:t>
            </a:r>
            <a:r>
              <a:rPr sz="1350" b="0" spc="-10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60" dirty="0">
                <a:solidFill>
                  <a:srgbClr val="E5E0DF"/>
                </a:solidFill>
                <a:latin typeface="Verdana"/>
                <a:cs typeface="Verdana"/>
              </a:rPr>
              <a:t>combines</a:t>
            </a:r>
            <a:r>
              <a:rPr sz="1350" b="0" spc="-10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75" dirty="0">
                <a:solidFill>
                  <a:srgbClr val="E5E0DF"/>
                </a:solidFill>
                <a:latin typeface="Verdana"/>
                <a:cs typeface="Verdana"/>
              </a:rPr>
              <a:t>cutting-</a:t>
            </a:r>
            <a:r>
              <a:rPr sz="1350" b="0" spc="-45" dirty="0">
                <a:solidFill>
                  <a:srgbClr val="E5E0DF"/>
                </a:solidFill>
                <a:latin typeface="Verdana"/>
                <a:cs typeface="Verdana"/>
              </a:rPr>
              <a:t>edge</a:t>
            </a:r>
            <a:r>
              <a:rPr sz="1350" b="0" spc="-10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130" dirty="0">
                <a:solidFill>
                  <a:srgbClr val="E5E0DF"/>
                </a:solidFill>
                <a:latin typeface="Verdana"/>
                <a:cs typeface="Verdana"/>
              </a:rPr>
              <a:t>AI,</a:t>
            </a:r>
            <a:r>
              <a:rPr sz="1350" b="0" spc="-10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60" dirty="0">
                <a:solidFill>
                  <a:srgbClr val="E5E0DF"/>
                </a:solidFill>
                <a:latin typeface="Verdana"/>
                <a:cs typeface="Verdana"/>
              </a:rPr>
              <a:t>robotics</a:t>
            </a:r>
            <a:r>
              <a:rPr sz="1350" b="0" spc="-10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80" dirty="0">
                <a:solidFill>
                  <a:srgbClr val="E5E0DF"/>
                </a:solidFill>
                <a:latin typeface="Verdana"/>
                <a:cs typeface="Verdana"/>
              </a:rPr>
              <a:t>expertise,</a:t>
            </a:r>
            <a:r>
              <a:rPr sz="1350" b="0" spc="-10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70" dirty="0">
                <a:solidFill>
                  <a:srgbClr val="E5E0DF"/>
                </a:solidFill>
                <a:latin typeface="Verdana"/>
                <a:cs typeface="Verdana"/>
              </a:rPr>
              <a:t>and</a:t>
            </a:r>
            <a:r>
              <a:rPr sz="1350" b="0" spc="-10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10" dirty="0">
                <a:solidFill>
                  <a:srgbClr val="E5E0DF"/>
                </a:solidFill>
                <a:latin typeface="Verdana"/>
                <a:cs typeface="Verdana"/>
              </a:rPr>
              <a:t>creative </a:t>
            </a:r>
            <a:r>
              <a:rPr sz="1350" b="0" spc="-80" dirty="0">
                <a:solidFill>
                  <a:srgbClr val="E5E0DF"/>
                </a:solidFill>
                <a:latin typeface="Verdana"/>
                <a:cs typeface="Verdana"/>
              </a:rPr>
              <a:t>storytelling</a:t>
            </a:r>
            <a:r>
              <a:rPr sz="1350" b="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85" dirty="0">
                <a:solidFill>
                  <a:srgbClr val="E5E0DF"/>
                </a:solidFill>
                <a:latin typeface="Verdana"/>
                <a:cs typeface="Verdana"/>
              </a:rPr>
              <a:t>to</a:t>
            </a:r>
            <a:r>
              <a:rPr sz="1350" b="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70" dirty="0">
                <a:solidFill>
                  <a:srgbClr val="E5E0DF"/>
                </a:solidFill>
                <a:latin typeface="Verdana"/>
                <a:cs typeface="Verdana"/>
              </a:rPr>
              <a:t>bring</a:t>
            </a:r>
            <a:r>
              <a:rPr sz="1350" b="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50" dirty="0">
                <a:solidFill>
                  <a:srgbClr val="E5E0DF"/>
                </a:solidFill>
                <a:latin typeface="Verdana"/>
                <a:cs typeface="Verdana"/>
              </a:rPr>
              <a:t>BLUE</a:t>
            </a:r>
            <a:r>
              <a:rPr sz="1350" b="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85" dirty="0">
                <a:solidFill>
                  <a:srgbClr val="E5E0DF"/>
                </a:solidFill>
                <a:latin typeface="Verdana"/>
                <a:cs typeface="Verdana"/>
              </a:rPr>
              <a:t>to</a:t>
            </a:r>
            <a:r>
              <a:rPr sz="1350" b="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60" dirty="0">
                <a:solidFill>
                  <a:srgbClr val="E5E0DF"/>
                </a:solidFill>
                <a:latin typeface="Verdana"/>
                <a:cs typeface="Verdana"/>
              </a:rPr>
              <a:t>life</a:t>
            </a:r>
            <a:r>
              <a:rPr sz="1350" b="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45" dirty="0">
                <a:solidFill>
                  <a:srgbClr val="E5E0DF"/>
                </a:solidFill>
                <a:latin typeface="Verdana"/>
                <a:cs typeface="Verdana"/>
              </a:rPr>
              <a:t>as</a:t>
            </a:r>
            <a:r>
              <a:rPr sz="1350" b="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65" dirty="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sz="1350" b="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85" dirty="0">
                <a:solidFill>
                  <a:srgbClr val="E5E0DF"/>
                </a:solidFill>
                <a:latin typeface="Verdana"/>
                <a:cs typeface="Verdana"/>
              </a:rPr>
              <a:t>breakthrough</a:t>
            </a:r>
            <a:r>
              <a:rPr sz="1350" b="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75" dirty="0">
                <a:solidFill>
                  <a:srgbClr val="E5E0DF"/>
                </a:solidFill>
                <a:latin typeface="Verdana"/>
                <a:cs typeface="Verdana"/>
              </a:rPr>
              <a:t>in</a:t>
            </a:r>
            <a:r>
              <a:rPr sz="1350" b="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90" dirty="0">
                <a:solidFill>
                  <a:srgbClr val="E5E0DF"/>
                </a:solidFill>
                <a:latin typeface="Verdana"/>
                <a:cs typeface="Verdana"/>
              </a:rPr>
              <a:t>emotionally</a:t>
            </a:r>
            <a:r>
              <a:rPr sz="1350" b="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35" dirty="0">
                <a:solidFill>
                  <a:srgbClr val="E5E0DF"/>
                </a:solidFill>
                <a:latin typeface="Verdana"/>
                <a:cs typeface="Verdana"/>
              </a:rPr>
              <a:t>expressive </a:t>
            </a:r>
            <a:r>
              <a:rPr sz="1350" b="0" spc="-75" dirty="0">
                <a:solidFill>
                  <a:srgbClr val="E5E0DF"/>
                </a:solidFill>
                <a:latin typeface="Verdana"/>
                <a:cs typeface="Verdana"/>
              </a:rPr>
              <a:t>robots</a:t>
            </a:r>
            <a:r>
              <a:rPr sz="1350" b="0" spc="-10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55" dirty="0">
                <a:solidFill>
                  <a:srgbClr val="E5E0DF"/>
                </a:solidFill>
                <a:latin typeface="Verdana"/>
                <a:cs typeface="Verdana"/>
              </a:rPr>
              <a:t>designed</a:t>
            </a:r>
            <a:r>
              <a:rPr sz="1350" b="0" spc="-10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60" dirty="0">
                <a:solidFill>
                  <a:srgbClr val="E5E0DF"/>
                </a:solidFill>
                <a:latin typeface="Verdana"/>
                <a:cs typeface="Verdana"/>
              </a:rPr>
              <a:t>for</a:t>
            </a:r>
            <a:r>
              <a:rPr sz="1350" b="0" spc="-10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75" dirty="0">
                <a:solidFill>
                  <a:srgbClr val="E5E0DF"/>
                </a:solidFill>
                <a:latin typeface="Verdana"/>
                <a:cs typeface="Verdana"/>
              </a:rPr>
              <a:t>real-</a:t>
            </a:r>
            <a:r>
              <a:rPr sz="1350" b="0" spc="-65" dirty="0">
                <a:solidFill>
                  <a:srgbClr val="E5E0DF"/>
                </a:solidFill>
                <a:latin typeface="Verdana"/>
                <a:cs typeface="Verdana"/>
              </a:rPr>
              <a:t>world</a:t>
            </a:r>
            <a:r>
              <a:rPr sz="1350" b="0" spc="-9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b="0" spc="-10" dirty="0">
                <a:solidFill>
                  <a:srgbClr val="E5E0DF"/>
                </a:solidFill>
                <a:latin typeface="Verdana"/>
                <a:cs typeface="Verdana"/>
              </a:rPr>
              <a:t>interaction.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30C8FC-1562-85D6-2CA5-ACDCB7907F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2787650"/>
            <a:ext cx="2971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530225"/>
            <a:ext cx="275780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Who</a:t>
            </a:r>
            <a:r>
              <a:rPr spc="-365" dirty="0"/>
              <a:t> </a:t>
            </a:r>
            <a:r>
              <a:rPr spc="-35" dirty="0"/>
              <a:t>is</a:t>
            </a:r>
            <a:r>
              <a:rPr spc="-360" dirty="0"/>
              <a:t> </a:t>
            </a:r>
            <a:r>
              <a:rPr spc="-85" dirty="0"/>
              <a:t>BLUE?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00075" y="1343024"/>
            <a:ext cx="5943600" cy="1009650"/>
            <a:chOff x="600075" y="1343024"/>
            <a:chExt cx="5943600" cy="1009650"/>
          </a:xfrm>
        </p:grpSpPr>
        <p:sp>
          <p:nvSpPr>
            <p:cNvPr id="7" name="object 7"/>
            <p:cNvSpPr/>
            <p:nvPr/>
          </p:nvSpPr>
          <p:spPr>
            <a:xfrm>
              <a:off x="604837" y="13477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588246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944880"/>
                  </a:lnTo>
                  <a:lnTo>
                    <a:pt x="0" y="948512"/>
                  </a:lnTo>
                  <a:lnTo>
                    <a:pt x="18747" y="986510"/>
                  </a:lnTo>
                  <a:lnTo>
                    <a:pt x="51619" y="1000125"/>
                  </a:lnTo>
                  <a:lnTo>
                    <a:pt x="5882462" y="1000125"/>
                  </a:lnTo>
                  <a:lnTo>
                    <a:pt x="5920460" y="981379"/>
                  </a:lnTo>
                  <a:lnTo>
                    <a:pt x="5934075" y="948512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4837" y="13477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0" y="9448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44880"/>
                  </a:lnTo>
                  <a:lnTo>
                    <a:pt x="5934075" y="948512"/>
                  </a:lnTo>
                  <a:lnTo>
                    <a:pt x="5933719" y="952093"/>
                  </a:lnTo>
                  <a:lnTo>
                    <a:pt x="5933008" y="955662"/>
                  </a:lnTo>
                  <a:lnTo>
                    <a:pt x="5932309" y="959218"/>
                  </a:lnTo>
                  <a:lnTo>
                    <a:pt x="5917895" y="983945"/>
                  </a:lnTo>
                  <a:lnTo>
                    <a:pt x="5915329" y="986510"/>
                  </a:lnTo>
                  <a:lnTo>
                    <a:pt x="5889599" y="999058"/>
                  </a:lnTo>
                  <a:lnTo>
                    <a:pt x="5886043" y="999769"/>
                  </a:lnTo>
                  <a:lnTo>
                    <a:pt x="5882462" y="1000125"/>
                  </a:lnTo>
                  <a:lnTo>
                    <a:pt x="5878830" y="1000125"/>
                  </a:lnTo>
                  <a:lnTo>
                    <a:pt x="55245" y="1000125"/>
                  </a:lnTo>
                  <a:lnTo>
                    <a:pt x="51619" y="1000125"/>
                  </a:lnTo>
                  <a:lnTo>
                    <a:pt x="48026" y="999769"/>
                  </a:lnTo>
                  <a:lnTo>
                    <a:pt x="44465" y="999058"/>
                  </a:lnTo>
                  <a:lnTo>
                    <a:pt x="40907" y="998359"/>
                  </a:lnTo>
                  <a:lnTo>
                    <a:pt x="9311" y="975563"/>
                  </a:lnTo>
                  <a:lnTo>
                    <a:pt x="7292" y="972553"/>
                  </a:lnTo>
                  <a:lnTo>
                    <a:pt x="5590" y="969378"/>
                  </a:lnTo>
                  <a:lnTo>
                    <a:pt x="4207" y="966025"/>
                  </a:lnTo>
                  <a:lnTo>
                    <a:pt x="2818" y="962672"/>
                  </a:lnTo>
                  <a:lnTo>
                    <a:pt x="1771" y="959218"/>
                  </a:lnTo>
                  <a:lnTo>
                    <a:pt x="1061" y="955662"/>
                  </a:lnTo>
                  <a:lnTo>
                    <a:pt x="351" y="952093"/>
                  </a:lnTo>
                  <a:lnTo>
                    <a:pt x="0" y="948512"/>
                  </a:lnTo>
                  <a:lnTo>
                    <a:pt x="0" y="944880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68350" y="1506537"/>
            <a:ext cx="2679065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30" dirty="0">
                <a:solidFill>
                  <a:srgbClr val="E5E0DF"/>
                </a:solidFill>
                <a:latin typeface="Tahoma"/>
                <a:cs typeface="Tahoma"/>
              </a:rPr>
              <a:t>Movie-</a:t>
            </a:r>
            <a:r>
              <a:rPr sz="1650" b="1" spc="-70" dirty="0">
                <a:solidFill>
                  <a:srgbClr val="E5E0DF"/>
                </a:solidFill>
                <a:latin typeface="Tahoma"/>
                <a:cs typeface="Tahoma"/>
              </a:rPr>
              <a:t>Like</a:t>
            </a:r>
            <a:r>
              <a:rPr sz="1650" b="1" spc="-110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Droid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Expressive,</a:t>
            </a: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E5E0DF"/>
                </a:solidFill>
                <a:latin typeface="Verdana"/>
                <a:cs typeface="Verdana"/>
              </a:rPr>
              <a:t>emotional</a:t>
            </a: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 movements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0075" y="2524124"/>
            <a:ext cx="5943600" cy="1009650"/>
            <a:chOff x="600075" y="2524124"/>
            <a:chExt cx="5943600" cy="1009650"/>
          </a:xfrm>
        </p:grpSpPr>
        <p:sp>
          <p:nvSpPr>
            <p:cNvPr id="11" name="object 11"/>
            <p:cNvSpPr/>
            <p:nvPr/>
          </p:nvSpPr>
          <p:spPr>
            <a:xfrm>
              <a:off x="604837" y="25288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588246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944880"/>
                  </a:lnTo>
                  <a:lnTo>
                    <a:pt x="0" y="948512"/>
                  </a:lnTo>
                  <a:lnTo>
                    <a:pt x="18747" y="986510"/>
                  </a:lnTo>
                  <a:lnTo>
                    <a:pt x="51619" y="1000125"/>
                  </a:lnTo>
                  <a:lnTo>
                    <a:pt x="5882462" y="1000125"/>
                  </a:lnTo>
                  <a:lnTo>
                    <a:pt x="5920460" y="981379"/>
                  </a:lnTo>
                  <a:lnTo>
                    <a:pt x="5934075" y="948512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4837" y="25288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0" y="9448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44880"/>
                  </a:lnTo>
                  <a:lnTo>
                    <a:pt x="5934075" y="948512"/>
                  </a:lnTo>
                  <a:lnTo>
                    <a:pt x="5933719" y="952093"/>
                  </a:lnTo>
                  <a:lnTo>
                    <a:pt x="5933008" y="955662"/>
                  </a:lnTo>
                  <a:lnTo>
                    <a:pt x="5932309" y="959218"/>
                  </a:lnTo>
                  <a:lnTo>
                    <a:pt x="5917895" y="983945"/>
                  </a:lnTo>
                  <a:lnTo>
                    <a:pt x="5915329" y="986510"/>
                  </a:lnTo>
                  <a:lnTo>
                    <a:pt x="5889599" y="999058"/>
                  </a:lnTo>
                  <a:lnTo>
                    <a:pt x="5886043" y="999769"/>
                  </a:lnTo>
                  <a:lnTo>
                    <a:pt x="5882462" y="1000125"/>
                  </a:lnTo>
                  <a:lnTo>
                    <a:pt x="5878830" y="1000125"/>
                  </a:lnTo>
                  <a:lnTo>
                    <a:pt x="55245" y="1000125"/>
                  </a:lnTo>
                  <a:lnTo>
                    <a:pt x="51619" y="1000125"/>
                  </a:lnTo>
                  <a:lnTo>
                    <a:pt x="48026" y="999769"/>
                  </a:lnTo>
                  <a:lnTo>
                    <a:pt x="44465" y="999058"/>
                  </a:lnTo>
                  <a:lnTo>
                    <a:pt x="40907" y="998359"/>
                  </a:lnTo>
                  <a:lnTo>
                    <a:pt x="9311" y="975563"/>
                  </a:lnTo>
                  <a:lnTo>
                    <a:pt x="7292" y="972553"/>
                  </a:lnTo>
                  <a:lnTo>
                    <a:pt x="5590" y="969378"/>
                  </a:lnTo>
                  <a:lnTo>
                    <a:pt x="4207" y="966025"/>
                  </a:lnTo>
                  <a:lnTo>
                    <a:pt x="2818" y="962672"/>
                  </a:lnTo>
                  <a:lnTo>
                    <a:pt x="1771" y="959218"/>
                  </a:lnTo>
                  <a:lnTo>
                    <a:pt x="1061" y="955662"/>
                  </a:lnTo>
                  <a:lnTo>
                    <a:pt x="351" y="952093"/>
                  </a:lnTo>
                  <a:lnTo>
                    <a:pt x="0" y="948512"/>
                  </a:lnTo>
                  <a:lnTo>
                    <a:pt x="0" y="944880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68350" y="2687637"/>
            <a:ext cx="2211070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60" dirty="0">
                <a:solidFill>
                  <a:srgbClr val="E5E0DF"/>
                </a:solidFill>
                <a:latin typeface="Tahoma"/>
                <a:cs typeface="Tahoma"/>
              </a:rPr>
              <a:t>Star</a:t>
            </a:r>
            <a:r>
              <a:rPr sz="1650" b="1" spc="-160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50" dirty="0">
                <a:solidFill>
                  <a:srgbClr val="E5E0DF"/>
                </a:solidFill>
                <a:latin typeface="Tahoma"/>
                <a:cs typeface="Tahoma"/>
              </a:rPr>
              <a:t>Wars</a:t>
            </a:r>
            <a:r>
              <a:rPr sz="1650" b="1" spc="-160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Inspiration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70" dirty="0">
                <a:solidFill>
                  <a:srgbClr val="E5E0DF"/>
                </a:solidFill>
                <a:latin typeface="Verdana"/>
                <a:cs typeface="Verdana"/>
              </a:rPr>
              <a:t>Resembles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R2-</a:t>
            </a: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D2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E5E0DF"/>
                </a:solidFill>
                <a:latin typeface="Verdana"/>
                <a:cs typeface="Verdana"/>
              </a:rPr>
              <a:t>and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E5E0DF"/>
                </a:solidFill>
                <a:latin typeface="Verdana"/>
                <a:cs typeface="Verdana"/>
              </a:rPr>
              <a:t>BB-</a:t>
            </a:r>
            <a:r>
              <a:rPr sz="1350" spc="-50" dirty="0">
                <a:solidFill>
                  <a:srgbClr val="E5E0DF"/>
                </a:solidFill>
                <a:latin typeface="Verdana"/>
                <a:cs typeface="Verdana"/>
              </a:rPr>
              <a:t>8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0075" y="3705225"/>
            <a:ext cx="5943600" cy="1000125"/>
            <a:chOff x="600075" y="3705225"/>
            <a:chExt cx="5943600" cy="1000125"/>
          </a:xfrm>
        </p:grpSpPr>
        <p:sp>
          <p:nvSpPr>
            <p:cNvPr id="15" name="object 15"/>
            <p:cNvSpPr/>
            <p:nvPr/>
          </p:nvSpPr>
          <p:spPr>
            <a:xfrm>
              <a:off x="604837" y="3709987"/>
              <a:ext cx="5934075" cy="990600"/>
            </a:xfrm>
            <a:custGeom>
              <a:avLst/>
              <a:gdLst/>
              <a:ahLst/>
              <a:cxnLst/>
              <a:rect l="l" t="t" r="r" b="b"/>
              <a:pathLst>
                <a:path w="5934075" h="990600">
                  <a:moveTo>
                    <a:pt x="588246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935355"/>
                  </a:lnTo>
                  <a:lnTo>
                    <a:pt x="0" y="938987"/>
                  </a:lnTo>
                  <a:lnTo>
                    <a:pt x="18747" y="976985"/>
                  </a:lnTo>
                  <a:lnTo>
                    <a:pt x="51619" y="990600"/>
                  </a:lnTo>
                  <a:lnTo>
                    <a:pt x="5882462" y="990600"/>
                  </a:lnTo>
                  <a:lnTo>
                    <a:pt x="5920460" y="971854"/>
                  </a:lnTo>
                  <a:lnTo>
                    <a:pt x="5934075" y="938987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4837" y="3709987"/>
              <a:ext cx="5934075" cy="990600"/>
            </a:xfrm>
            <a:custGeom>
              <a:avLst/>
              <a:gdLst/>
              <a:ahLst/>
              <a:cxnLst/>
              <a:rect l="l" t="t" r="r" b="b"/>
              <a:pathLst>
                <a:path w="5934075" h="990600">
                  <a:moveTo>
                    <a:pt x="0" y="9353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35355"/>
                  </a:lnTo>
                  <a:lnTo>
                    <a:pt x="5934075" y="938987"/>
                  </a:lnTo>
                  <a:lnTo>
                    <a:pt x="5933719" y="942568"/>
                  </a:lnTo>
                  <a:lnTo>
                    <a:pt x="5933008" y="946137"/>
                  </a:lnTo>
                  <a:lnTo>
                    <a:pt x="5932309" y="949693"/>
                  </a:lnTo>
                  <a:lnTo>
                    <a:pt x="5917895" y="974420"/>
                  </a:lnTo>
                  <a:lnTo>
                    <a:pt x="5915329" y="976985"/>
                  </a:lnTo>
                  <a:lnTo>
                    <a:pt x="5889599" y="989533"/>
                  </a:lnTo>
                  <a:lnTo>
                    <a:pt x="5886043" y="990244"/>
                  </a:lnTo>
                  <a:lnTo>
                    <a:pt x="5882462" y="990600"/>
                  </a:lnTo>
                  <a:lnTo>
                    <a:pt x="5878830" y="990600"/>
                  </a:lnTo>
                  <a:lnTo>
                    <a:pt x="55245" y="990600"/>
                  </a:lnTo>
                  <a:lnTo>
                    <a:pt x="51619" y="990600"/>
                  </a:lnTo>
                  <a:lnTo>
                    <a:pt x="48026" y="990244"/>
                  </a:lnTo>
                  <a:lnTo>
                    <a:pt x="44465" y="989533"/>
                  </a:lnTo>
                  <a:lnTo>
                    <a:pt x="40907" y="988834"/>
                  </a:lnTo>
                  <a:lnTo>
                    <a:pt x="9311" y="966038"/>
                  </a:lnTo>
                  <a:lnTo>
                    <a:pt x="7292" y="963028"/>
                  </a:lnTo>
                  <a:lnTo>
                    <a:pt x="5590" y="959853"/>
                  </a:lnTo>
                  <a:lnTo>
                    <a:pt x="4207" y="956500"/>
                  </a:lnTo>
                  <a:lnTo>
                    <a:pt x="2818" y="953147"/>
                  </a:lnTo>
                  <a:lnTo>
                    <a:pt x="1771" y="949693"/>
                  </a:lnTo>
                  <a:lnTo>
                    <a:pt x="1061" y="946137"/>
                  </a:lnTo>
                  <a:lnTo>
                    <a:pt x="351" y="942568"/>
                  </a:lnTo>
                  <a:lnTo>
                    <a:pt x="0" y="938987"/>
                  </a:lnTo>
                  <a:lnTo>
                    <a:pt x="0" y="935355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68350" y="3868737"/>
            <a:ext cx="2497455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65" dirty="0">
                <a:solidFill>
                  <a:srgbClr val="E5E0DF"/>
                </a:solidFill>
                <a:latin typeface="Tahoma"/>
                <a:cs typeface="Tahoma"/>
              </a:rPr>
              <a:t>Human</a:t>
            </a:r>
            <a:r>
              <a:rPr sz="1650" b="1" spc="-150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Interaction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Built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E5E0DF"/>
                </a:solidFill>
                <a:latin typeface="Verdana"/>
                <a:cs typeface="Verdana"/>
              </a:rPr>
              <a:t>for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real-</a:t>
            </a:r>
            <a:r>
              <a:rPr sz="1350" spc="-65" dirty="0">
                <a:solidFill>
                  <a:srgbClr val="E5E0DF"/>
                </a:solidFill>
                <a:latin typeface="Verdana"/>
                <a:cs typeface="Verdana"/>
              </a:rPr>
              <a:t>world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E5E0DF"/>
                </a:solidFill>
                <a:latin typeface="Verdana"/>
                <a:cs typeface="Verdana"/>
              </a:rPr>
              <a:t>engagement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0075" y="4876800"/>
            <a:ext cx="5943600" cy="1009650"/>
            <a:chOff x="600075" y="4876800"/>
            <a:chExt cx="5943600" cy="1009650"/>
          </a:xfrm>
        </p:grpSpPr>
        <p:sp>
          <p:nvSpPr>
            <p:cNvPr id="19" name="object 19"/>
            <p:cNvSpPr/>
            <p:nvPr/>
          </p:nvSpPr>
          <p:spPr>
            <a:xfrm>
              <a:off x="604837" y="4881562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588246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944881"/>
                  </a:lnTo>
                  <a:lnTo>
                    <a:pt x="0" y="948507"/>
                  </a:lnTo>
                  <a:lnTo>
                    <a:pt x="18747" y="986508"/>
                  </a:lnTo>
                  <a:lnTo>
                    <a:pt x="51619" y="1000126"/>
                  </a:lnTo>
                  <a:lnTo>
                    <a:pt x="5882462" y="1000126"/>
                  </a:lnTo>
                  <a:lnTo>
                    <a:pt x="5920460" y="981378"/>
                  </a:lnTo>
                  <a:lnTo>
                    <a:pt x="5934075" y="948507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4837" y="4881562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0" y="944881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44881"/>
                  </a:lnTo>
                  <a:lnTo>
                    <a:pt x="5934075" y="948507"/>
                  </a:lnTo>
                  <a:lnTo>
                    <a:pt x="5933719" y="952098"/>
                  </a:lnTo>
                  <a:lnTo>
                    <a:pt x="5933008" y="955655"/>
                  </a:lnTo>
                  <a:lnTo>
                    <a:pt x="5932309" y="959213"/>
                  </a:lnTo>
                  <a:lnTo>
                    <a:pt x="5909525" y="990814"/>
                  </a:lnTo>
                  <a:lnTo>
                    <a:pt x="5899962" y="995918"/>
                  </a:lnTo>
                  <a:lnTo>
                    <a:pt x="5896622" y="997308"/>
                  </a:lnTo>
                  <a:lnTo>
                    <a:pt x="5893168" y="998354"/>
                  </a:lnTo>
                  <a:lnTo>
                    <a:pt x="5889599" y="999064"/>
                  </a:lnTo>
                  <a:lnTo>
                    <a:pt x="5886043" y="999769"/>
                  </a:lnTo>
                  <a:lnTo>
                    <a:pt x="5882462" y="1000126"/>
                  </a:lnTo>
                  <a:lnTo>
                    <a:pt x="5878830" y="1000126"/>
                  </a:lnTo>
                  <a:lnTo>
                    <a:pt x="55245" y="1000126"/>
                  </a:lnTo>
                  <a:lnTo>
                    <a:pt x="51619" y="1000126"/>
                  </a:lnTo>
                  <a:lnTo>
                    <a:pt x="48026" y="999769"/>
                  </a:lnTo>
                  <a:lnTo>
                    <a:pt x="13618" y="981378"/>
                  </a:lnTo>
                  <a:lnTo>
                    <a:pt x="9311" y="975569"/>
                  </a:lnTo>
                  <a:lnTo>
                    <a:pt x="7292" y="972553"/>
                  </a:lnTo>
                  <a:lnTo>
                    <a:pt x="5590" y="969368"/>
                  </a:lnTo>
                  <a:lnTo>
                    <a:pt x="4207" y="966019"/>
                  </a:lnTo>
                  <a:lnTo>
                    <a:pt x="2818" y="962666"/>
                  </a:lnTo>
                  <a:lnTo>
                    <a:pt x="1771" y="959213"/>
                  </a:lnTo>
                  <a:lnTo>
                    <a:pt x="1061" y="955655"/>
                  </a:lnTo>
                  <a:lnTo>
                    <a:pt x="351" y="952098"/>
                  </a:lnTo>
                  <a:lnTo>
                    <a:pt x="0" y="948507"/>
                  </a:lnTo>
                  <a:lnTo>
                    <a:pt x="0" y="944881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68350" y="5040313"/>
            <a:ext cx="2460625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35" dirty="0">
                <a:solidFill>
                  <a:srgbClr val="E5E0DF"/>
                </a:solidFill>
                <a:latin typeface="Tahoma"/>
                <a:cs typeface="Tahoma"/>
              </a:rPr>
              <a:t>AI</a:t>
            </a:r>
            <a:r>
              <a:rPr sz="1650" b="1" spc="-175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280" dirty="0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sz="1650" b="1" spc="-170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Physics</a:t>
            </a:r>
            <a:r>
              <a:rPr sz="1650" b="1" spc="-175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Powered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50" dirty="0">
                <a:solidFill>
                  <a:srgbClr val="E5E0DF"/>
                </a:solidFill>
                <a:latin typeface="Verdana"/>
                <a:cs typeface="Verdana"/>
              </a:rPr>
              <a:t>Advanced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E5E0DF"/>
                </a:solidFill>
                <a:latin typeface="Verdana"/>
                <a:cs typeface="Verdana"/>
              </a:rPr>
              <a:t>motion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E5E0DF"/>
                </a:solidFill>
                <a:latin typeface="Verdana"/>
                <a:cs typeface="Verdana"/>
              </a:rPr>
              <a:t>and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E5E0DF"/>
                </a:solidFill>
                <a:latin typeface="Verdana"/>
                <a:cs typeface="Verdana"/>
              </a:rPr>
              <a:t>behavior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98DCA5-7914-7A4E-4BEA-39019CA64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-34925"/>
            <a:ext cx="4740541" cy="6445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482725"/>
            <a:ext cx="7712709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50" dirty="0"/>
              <a:t>How</a:t>
            </a:r>
            <a:r>
              <a:rPr spc="-355" dirty="0"/>
              <a:t> </a:t>
            </a:r>
            <a:r>
              <a:rPr spc="-120" dirty="0"/>
              <a:t>BLUE</a:t>
            </a:r>
            <a:r>
              <a:rPr spc="-355" dirty="0"/>
              <a:t> </a:t>
            </a:r>
            <a:r>
              <a:rPr spc="-105" dirty="0"/>
              <a:t>Works</a:t>
            </a:r>
            <a:r>
              <a:rPr spc="-355" dirty="0"/>
              <a:t> </a:t>
            </a:r>
            <a:r>
              <a:rPr spc="-114" dirty="0"/>
              <a:t>(The</a:t>
            </a:r>
            <a:r>
              <a:rPr spc="-355" dirty="0"/>
              <a:t> </a:t>
            </a:r>
            <a:r>
              <a:rPr spc="-65" dirty="0"/>
              <a:t>Tech</a:t>
            </a:r>
            <a:r>
              <a:rPr spc="-350" dirty="0"/>
              <a:t> </a:t>
            </a:r>
            <a:r>
              <a:rPr spc="-120" dirty="0"/>
              <a:t>Explained)</a:t>
            </a:r>
          </a:p>
        </p:txBody>
      </p:sp>
      <p:sp>
        <p:nvSpPr>
          <p:cNvPr id="3" name="object 3"/>
          <p:cNvSpPr/>
          <p:nvPr/>
        </p:nvSpPr>
        <p:spPr>
          <a:xfrm>
            <a:off x="638175" y="32956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8175" y="39052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7375" y="2459037"/>
            <a:ext cx="1956435" cy="184594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334645">
              <a:lnSpc>
                <a:spcPct val="106100"/>
              </a:lnSpc>
              <a:spcBef>
                <a:spcPts val="15"/>
              </a:spcBef>
            </a:pPr>
            <a:r>
              <a:rPr sz="1650" b="1" spc="-70" dirty="0">
                <a:solidFill>
                  <a:srgbClr val="FFFFFF"/>
                </a:solidFill>
                <a:latin typeface="Tahoma"/>
                <a:cs typeface="Tahoma"/>
              </a:rPr>
              <a:t>Newton</a:t>
            </a:r>
            <a:r>
              <a:rPr sz="1650" b="1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Tahoma"/>
                <a:cs typeface="Tahoma"/>
              </a:rPr>
              <a:t>Physics Engine</a:t>
            </a:r>
            <a:endParaRPr sz="1650">
              <a:latin typeface="Tahoma"/>
              <a:cs typeface="Tahoma"/>
            </a:endParaRPr>
          </a:p>
          <a:p>
            <a:pPr marL="286385" marR="5080">
              <a:lnSpc>
                <a:spcPct val="134300"/>
              </a:lnSpc>
              <a:spcBef>
                <a:spcPts val="1065"/>
              </a:spcBef>
            </a:pP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Real-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time</a:t>
            </a:r>
            <a:r>
              <a:rPr sz="1350" spc="-9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E5E0DF"/>
                </a:solidFill>
                <a:latin typeface="Verdana"/>
                <a:cs typeface="Verdana"/>
              </a:rPr>
              <a:t>physics</a:t>
            </a:r>
            <a:r>
              <a:rPr sz="1350" spc="-8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E5E0DF"/>
                </a:solidFill>
                <a:latin typeface="Verdana"/>
                <a:cs typeface="Verdana"/>
              </a:rPr>
              <a:t>via 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NVIDIA</a:t>
            </a:r>
            <a:r>
              <a:rPr sz="1350" spc="-12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Warp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Verdana"/>
                <a:cs typeface="Verdana"/>
              </a:rPr>
              <a:t>GPU</a:t>
            </a:r>
            <a:endParaRPr sz="1350">
              <a:latin typeface="Verdana"/>
              <a:cs typeface="Verdana"/>
            </a:endParaRPr>
          </a:p>
          <a:p>
            <a:pPr marL="286385" marR="77470">
              <a:lnSpc>
                <a:spcPct val="134300"/>
              </a:lnSpc>
              <a:spcBef>
                <a:spcPts val="450"/>
              </a:spcBef>
            </a:pPr>
            <a:r>
              <a:rPr sz="1350" spc="-90" dirty="0">
                <a:solidFill>
                  <a:srgbClr val="E5E0DF"/>
                </a:solidFill>
                <a:latin typeface="Verdana"/>
                <a:cs typeface="Verdana"/>
              </a:rPr>
              <a:t>Natural 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movement</a:t>
            </a:r>
            <a:r>
              <a:rPr sz="1350" spc="-8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E5E0DF"/>
                </a:solidFill>
                <a:latin typeface="Verdana"/>
                <a:cs typeface="Verdana"/>
              </a:rPr>
              <a:t>&amp; </a:t>
            </a:r>
            <a:r>
              <a:rPr sz="1350" spc="-10" dirty="0">
                <a:solidFill>
                  <a:srgbClr val="E5E0DF"/>
                </a:solidFill>
                <a:latin typeface="Verdana"/>
                <a:cs typeface="Verdana"/>
              </a:rPr>
              <a:t>balance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05175" y="3028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05175" y="3362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05175" y="39719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258845" y="2459037"/>
            <a:ext cx="2219960" cy="1912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70" dirty="0">
                <a:solidFill>
                  <a:srgbClr val="FFFFFF"/>
                </a:solidFill>
                <a:latin typeface="Tahoma"/>
                <a:cs typeface="Tahoma"/>
              </a:rPr>
              <a:t>Dual</a:t>
            </a:r>
            <a:r>
              <a:rPr sz="1650" b="1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125" dirty="0">
                <a:solidFill>
                  <a:srgbClr val="FFFFFF"/>
                </a:solidFill>
                <a:latin typeface="Tahoma"/>
                <a:cs typeface="Tahoma"/>
              </a:rPr>
              <a:t>NVIDIA</a:t>
            </a:r>
            <a:r>
              <a:rPr sz="1650" b="1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Tahoma"/>
                <a:cs typeface="Tahoma"/>
              </a:rPr>
              <a:t>Jetson</a:t>
            </a:r>
            <a:endParaRPr sz="165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620"/>
              </a:spcBef>
            </a:pPr>
            <a:r>
              <a:rPr sz="1350" spc="-60" dirty="0">
                <a:solidFill>
                  <a:srgbClr val="E5E0DF"/>
                </a:solidFill>
                <a:latin typeface="Verdana"/>
                <a:cs typeface="Verdana"/>
              </a:rPr>
              <a:t>Vision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&amp; </a:t>
            </a:r>
            <a:r>
              <a:rPr sz="1350" spc="-95" dirty="0">
                <a:solidFill>
                  <a:srgbClr val="E5E0DF"/>
                </a:solidFill>
                <a:latin typeface="Verdana"/>
                <a:cs typeface="Verdana"/>
              </a:rPr>
              <a:t>motion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E5E0DF"/>
                </a:solidFill>
                <a:latin typeface="Verdana"/>
                <a:cs typeface="Verdana"/>
              </a:rPr>
              <a:t>planning</a:t>
            </a:r>
            <a:endParaRPr sz="1350">
              <a:latin typeface="Verdana"/>
              <a:cs typeface="Verdana"/>
            </a:endParaRPr>
          </a:p>
          <a:p>
            <a:pPr marL="286385" marR="113664">
              <a:lnSpc>
                <a:spcPct val="134300"/>
              </a:lnSpc>
              <a:spcBef>
                <a:spcPts val="450"/>
              </a:spcBef>
            </a:pP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Reinforcement</a:t>
            </a:r>
            <a:r>
              <a:rPr sz="1350" spc="-65" dirty="0">
                <a:solidFill>
                  <a:srgbClr val="E5E0DF"/>
                </a:solidFill>
                <a:latin typeface="Verdana"/>
                <a:cs typeface="Verdana"/>
              </a:rPr>
              <a:t> learning </a:t>
            </a:r>
            <a:r>
              <a:rPr sz="1350" spc="-10" dirty="0">
                <a:solidFill>
                  <a:srgbClr val="E5E0DF"/>
                </a:solidFill>
                <a:latin typeface="Verdana"/>
                <a:cs typeface="Verdana"/>
              </a:rPr>
              <a:t>behaviors</a:t>
            </a:r>
            <a:endParaRPr sz="1350">
              <a:latin typeface="Verdana"/>
              <a:cs typeface="Verdana"/>
            </a:endParaRPr>
          </a:p>
          <a:p>
            <a:pPr marL="286385" marR="499109">
              <a:lnSpc>
                <a:spcPct val="134300"/>
              </a:lnSpc>
              <a:spcBef>
                <a:spcPts val="450"/>
              </a:spcBef>
            </a:pPr>
            <a:r>
              <a:rPr sz="1350" spc="-60" dirty="0">
                <a:solidFill>
                  <a:srgbClr val="E5E0DF"/>
                </a:solidFill>
                <a:latin typeface="Verdana"/>
                <a:cs typeface="Verdana"/>
              </a:rPr>
              <a:t>Facial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E5E0DF"/>
                </a:solidFill>
                <a:latin typeface="Verdana"/>
                <a:cs typeface="Verdana"/>
              </a:rPr>
              <a:t>and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E5E0DF"/>
                </a:solidFill>
                <a:latin typeface="Verdana"/>
                <a:cs typeface="Verdana"/>
              </a:rPr>
              <a:t>gesture </a:t>
            </a:r>
            <a:r>
              <a:rPr sz="1350" spc="-10" dirty="0">
                <a:solidFill>
                  <a:srgbClr val="E5E0DF"/>
                </a:solidFill>
                <a:latin typeface="Verdana"/>
                <a:cs typeface="Verdana"/>
              </a:rPr>
              <a:t>detection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81700" y="3028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81700" y="36385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930303" y="2459037"/>
            <a:ext cx="2240915" cy="15697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20" dirty="0">
                <a:solidFill>
                  <a:srgbClr val="FFFFFF"/>
                </a:solidFill>
                <a:latin typeface="Tahoma"/>
                <a:cs typeface="Tahoma"/>
              </a:rPr>
              <a:t>Sensory</a:t>
            </a:r>
            <a:r>
              <a:rPr sz="1650" b="1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Tahoma"/>
                <a:cs typeface="Tahoma"/>
              </a:rPr>
              <a:t>Systems</a:t>
            </a:r>
            <a:endParaRPr sz="1650">
              <a:latin typeface="Tahoma"/>
              <a:cs typeface="Tahoma"/>
            </a:endParaRPr>
          </a:p>
          <a:p>
            <a:pPr marL="286385" marR="5080">
              <a:lnSpc>
                <a:spcPct val="134300"/>
              </a:lnSpc>
              <a:spcBef>
                <a:spcPts val="1065"/>
              </a:spcBef>
            </a:pP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Cameras,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E5E0DF"/>
                </a:solidFill>
                <a:latin typeface="Verdana"/>
                <a:cs typeface="Verdana"/>
              </a:rPr>
              <a:t>touch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E5E0DF"/>
                </a:solidFill>
                <a:latin typeface="Verdana"/>
                <a:cs typeface="Verdana"/>
              </a:rPr>
              <a:t>sensors, </a:t>
            </a:r>
            <a:r>
              <a:rPr sz="1350" spc="-10" dirty="0">
                <a:solidFill>
                  <a:srgbClr val="E5E0DF"/>
                </a:solidFill>
                <a:latin typeface="Verdana"/>
                <a:cs typeface="Verdana"/>
              </a:rPr>
              <a:t>microphones</a:t>
            </a:r>
            <a:endParaRPr sz="1350">
              <a:latin typeface="Verdana"/>
              <a:cs typeface="Verdana"/>
            </a:endParaRPr>
          </a:p>
          <a:p>
            <a:pPr marL="286385" marR="305435">
              <a:lnSpc>
                <a:spcPct val="129600"/>
              </a:lnSpc>
              <a:spcBef>
                <a:spcPts val="525"/>
              </a:spcBef>
            </a:pPr>
            <a:r>
              <a:rPr sz="1350" spc="-50" dirty="0">
                <a:solidFill>
                  <a:srgbClr val="E5E0DF"/>
                </a:solidFill>
                <a:latin typeface="Verdana"/>
                <a:cs typeface="Verdana"/>
              </a:rPr>
              <a:t>Voice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E5E0DF"/>
                </a:solidFill>
                <a:latin typeface="Verdana"/>
                <a:cs typeface="Verdana"/>
              </a:rPr>
              <a:t>and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interaction </a:t>
            </a:r>
            <a:r>
              <a:rPr sz="1350" spc="-20" dirty="0">
                <a:solidFill>
                  <a:srgbClr val="E5E0DF"/>
                </a:solidFill>
                <a:latin typeface="Verdana"/>
                <a:cs typeface="Verdana"/>
              </a:rPr>
              <a:t>cues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648700" y="3028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648700" y="36385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601773" y="2459037"/>
            <a:ext cx="1854200" cy="15697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45" dirty="0">
                <a:solidFill>
                  <a:srgbClr val="FFFFFF"/>
                </a:solidFill>
                <a:latin typeface="Tahoma"/>
                <a:cs typeface="Tahoma"/>
              </a:rPr>
              <a:t>Expression</a:t>
            </a:r>
            <a:r>
              <a:rPr sz="165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25" dirty="0">
                <a:solidFill>
                  <a:srgbClr val="FFFFFF"/>
                </a:solidFill>
                <a:latin typeface="Tahoma"/>
                <a:cs typeface="Tahoma"/>
              </a:rPr>
              <a:t>Engine</a:t>
            </a:r>
            <a:endParaRPr sz="1650">
              <a:latin typeface="Tahoma"/>
              <a:cs typeface="Tahoma"/>
            </a:endParaRPr>
          </a:p>
          <a:p>
            <a:pPr marL="286385" marR="306070">
              <a:lnSpc>
                <a:spcPct val="134300"/>
              </a:lnSpc>
              <a:spcBef>
                <a:spcPts val="1065"/>
              </a:spcBef>
            </a:pPr>
            <a:r>
              <a:rPr sz="1350" spc="-65" dirty="0">
                <a:solidFill>
                  <a:srgbClr val="E5E0DF"/>
                </a:solidFill>
                <a:latin typeface="Verdana"/>
                <a:cs typeface="Verdana"/>
              </a:rPr>
              <a:t>LED</a:t>
            </a:r>
            <a:r>
              <a:rPr sz="1350" spc="-12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E5E0DF"/>
                </a:solidFill>
                <a:latin typeface="Verdana"/>
                <a:cs typeface="Verdana"/>
              </a:rPr>
              <a:t>face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E5E0DF"/>
                </a:solidFill>
                <a:latin typeface="Verdana"/>
                <a:cs typeface="Verdana"/>
              </a:rPr>
              <a:t>shows </a:t>
            </a:r>
            <a:r>
              <a:rPr sz="1350" spc="-10" dirty="0">
                <a:solidFill>
                  <a:srgbClr val="E5E0DF"/>
                </a:solidFill>
                <a:latin typeface="Verdana"/>
                <a:cs typeface="Verdana"/>
              </a:rPr>
              <a:t>emotions</a:t>
            </a:r>
            <a:endParaRPr sz="1350">
              <a:latin typeface="Verdana"/>
              <a:cs typeface="Verdana"/>
            </a:endParaRPr>
          </a:p>
          <a:p>
            <a:pPr marL="286385" marR="75565">
              <a:lnSpc>
                <a:spcPct val="129600"/>
              </a:lnSpc>
              <a:spcBef>
                <a:spcPts val="525"/>
              </a:spcBef>
            </a:pP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Gesture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system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E5E0DF"/>
                </a:solidFill>
                <a:latin typeface="Verdana"/>
                <a:cs typeface="Verdana"/>
              </a:rPr>
              <a:t>for </a:t>
            </a:r>
            <a:r>
              <a:rPr sz="1350" spc="-10" dirty="0">
                <a:solidFill>
                  <a:srgbClr val="E5E0DF"/>
                </a:solidFill>
                <a:latin typeface="Verdana"/>
                <a:cs typeface="Verdana"/>
              </a:rPr>
              <a:t>playfulness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7375" y="4664075"/>
            <a:ext cx="383540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25" dirty="0">
                <a:solidFill>
                  <a:srgbClr val="E5E0DF"/>
                </a:solidFill>
                <a:latin typeface="Verdana"/>
                <a:cs typeface="Verdana"/>
              </a:rPr>
              <a:t>AI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E5E0DF"/>
                </a:solidFill>
                <a:latin typeface="Verdana"/>
                <a:cs typeface="Verdana"/>
              </a:rPr>
              <a:t>learns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E5E0DF"/>
                </a:solidFill>
                <a:latin typeface="Verdana"/>
                <a:cs typeface="Verdana"/>
              </a:rPr>
              <a:t>and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adapts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E5E0DF"/>
                </a:solidFill>
                <a:latin typeface="Verdana"/>
                <a:cs typeface="Verdana"/>
              </a:rPr>
              <a:t>to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E5E0DF"/>
                </a:solidFill>
                <a:latin typeface="Verdana"/>
                <a:cs typeface="Verdana"/>
              </a:rPr>
              <a:t>familiar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E5E0DF"/>
                </a:solidFill>
                <a:latin typeface="Verdana"/>
                <a:cs typeface="Verdana"/>
              </a:rPr>
              <a:t>users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in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real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E5E0DF"/>
                </a:solidFill>
                <a:latin typeface="Verdana"/>
                <a:cs typeface="Verdana"/>
              </a:rPr>
              <a:t>time.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7" name="object 17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39E8769-BC58-5F2C-C1B9-B266C4534B76}"/>
              </a:ext>
            </a:extLst>
          </p:cNvPr>
          <p:cNvSpPr/>
          <p:nvPr/>
        </p:nvSpPr>
        <p:spPr>
          <a:xfrm>
            <a:off x="9580244" y="5813425"/>
            <a:ext cx="1754504" cy="5317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4298950">
              <a:lnSpc>
                <a:spcPct val="100000"/>
              </a:lnSpc>
              <a:spcBef>
                <a:spcPts val="125"/>
              </a:spcBef>
            </a:pPr>
            <a:r>
              <a:rPr spc="-30" dirty="0"/>
              <a:t>The</a:t>
            </a:r>
            <a:r>
              <a:rPr spc="-360" dirty="0"/>
              <a:t> </a:t>
            </a:r>
            <a:r>
              <a:rPr spc="-140" dirty="0"/>
              <a:t>Star</a:t>
            </a:r>
            <a:r>
              <a:rPr spc="-360" dirty="0"/>
              <a:t> </a:t>
            </a:r>
            <a:r>
              <a:rPr spc="-125" dirty="0"/>
              <a:t>Wars</a:t>
            </a:r>
            <a:r>
              <a:rPr spc="-355" dirty="0"/>
              <a:t> </a:t>
            </a:r>
            <a:r>
              <a:rPr spc="-65" dirty="0"/>
              <a:t>Connection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86325" y="2609849"/>
            <a:ext cx="390525" cy="390525"/>
            <a:chOff x="4886325" y="2609849"/>
            <a:chExt cx="390525" cy="390525"/>
          </a:xfrm>
        </p:grpSpPr>
        <p:sp>
          <p:nvSpPr>
            <p:cNvPr id="5" name="object 5"/>
            <p:cNvSpPr/>
            <p:nvPr/>
          </p:nvSpPr>
          <p:spPr>
            <a:xfrm>
              <a:off x="4891087" y="26146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5" y="367385"/>
                  </a:lnTo>
                  <a:lnTo>
                    <a:pt x="51612" y="381000"/>
                  </a:lnTo>
                  <a:lnTo>
                    <a:pt x="329387" y="381000"/>
                  </a:lnTo>
                  <a:lnTo>
                    <a:pt x="367385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91087" y="26146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76796" y="3409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4" y="332968"/>
                  </a:lnTo>
                  <a:lnTo>
                    <a:pt x="379933" y="336537"/>
                  </a:lnTo>
                  <a:lnTo>
                    <a:pt x="379234" y="340093"/>
                  </a:lnTo>
                  <a:lnTo>
                    <a:pt x="356450" y="371690"/>
                  </a:lnTo>
                  <a:lnTo>
                    <a:pt x="336524" y="379933"/>
                  </a:lnTo>
                  <a:lnTo>
                    <a:pt x="332968" y="380644"/>
                  </a:lnTo>
                  <a:lnTo>
                    <a:pt x="329387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18" y="380644"/>
                  </a:lnTo>
                  <a:lnTo>
                    <a:pt x="44462" y="379933"/>
                  </a:lnTo>
                  <a:lnTo>
                    <a:pt x="40906" y="379234"/>
                  </a:lnTo>
                  <a:lnTo>
                    <a:pt x="9309" y="356438"/>
                  </a:lnTo>
                  <a:lnTo>
                    <a:pt x="7289" y="353428"/>
                  </a:lnTo>
                  <a:lnTo>
                    <a:pt x="1066" y="336537"/>
                  </a:lnTo>
                  <a:lnTo>
                    <a:pt x="355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30837" y="2592387"/>
            <a:ext cx="2118995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40" dirty="0">
                <a:solidFill>
                  <a:srgbClr val="E5E0DF"/>
                </a:solidFill>
                <a:latin typeface="Tahoma"/>
                <a:cs typeface="Tahoma"/>
              </a:rPr>
              <a:t>Expressive</a:t>
            </a:r>
            <a:r>
              <a:rPr sz="1650" b="1" spc="-155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280" dirty="0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sz="1650" b="1" spc="-150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30" dirty="0">
                <a:solidFill>
                  <a:srgbClr val="E5E0DF"/>
                </a:solidFill>
                <a:latin typeface="Tahoma"/>
                <a:cs typeface="Tahoma"/>
              </a:rPr>
              <a:t>Lovable</a:t>
            </a:r>
            <a:endParaRPr sz="1650">
              <a:latin typeface="Tahoma"/>
              <a:cs typeface="Tahoma"/>
            </a:endParaRPr>
          </a:p>
          <a:p>
            <a:pPr marL="12700" marR="147955">
              <a:lnSpc>
                <a:spcPct val="134300"/>
              </a:lnSpc>
              <a:spcBef>
                <a:spcPts val="540"/>
              </a:spcBef>
            </a:pPr>
            <a:r>
              <a:rPr sz="1350" spc="-90" dirty="0">
                <a:solidFill>
                  <a:srgbClr val="E5E0DF"/>
                </a:solidFill>
                <a:latin typeface="Verdana"/>
                <a:cs typeface="Verdana"/>
              </a:rPr>
              <a:t>Emotion-</a:t>
            </a:r>
            <a:r>
              <a:rPr sz="1350" spc="-60" dirty="0">
                <a:solidFill>
                  <a:srgbClr val="E5E0DF"/>
                </a:solidFill>
                <a:latin typeface="Verdana"/>
                <a:cs typeface="Verdana"/>
              </a:rPr>
              <a:t>filled</a:t>
            </a:r>
            <a:r>
              <a:rPr sz="1350" spc="-6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E5E0DF"/>
                </a:solidFill>
                <a:latin typeface="Verdana"/>
                <a:cs typeface="Verdana"/>
              </a:rPr>
              <a:t>beeps</a:t>
            </a:r>
            <a:r>
              <a:rPr sz="1350" spc="-6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E5E0DF"/>
                </a:solidFill>
                <a:latin typeface="Verdana"/>
                <a:cs typeface="Verdana"/>
              </a:rPr>
              <a:t>and </a:t>
            </a:r>
            <a:r>
              <a:rPr sz="1350" spc="-10" dirty="0">
                <a:solidFill>
                  <a:srgbClr val="E5E0DF"/>
                </a:solidFill>
                <a:latin typeface="Verdana"/>
                <a:cs typeface="Verdana"/>
              </a:rPr>
              <a:t>gestures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43850" y="2609849"/>
            <a:ext cx="390525" cy="390525"/>
            <a:chOff x="7943850" y="2609849"/>
            <a:chExt cx="390525" cy="390525"/>
          </a:xfrm>
        </p:grpSpPr>
        <p:sp>
          <p:nvSpPr>
            <p:cNvPr id="9" name="object 9"/>
            <p:cNvSpPr/>
            <p:nvPr/>
          </p:nvSpPr>
          <p:spPr>
            <a:xfrm>
              <a:off x="7948612" y="26146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5" y="367385"/>
                  </a:lnTo>
                  <a:lnTo>
                    <a:pt x="51612" y="381000"/>
                  </a:lnTo>
                  <a:lnTo>
                    <a:pt x="329387" y="381000"/>
                  </a:lnTo>
                  <a:lnTo>
                    <a:pt x="367385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48612" y="26146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53428" y="7289"/>
                  </a:lnTo>
                  <a:lnTo>
                    <a:pt x="356438" y="9309"/>
                  </a:lnTo>
                  <a:lnTo>
                    <a:pt x="359460" y="11328"/>
                  </a:lnTo>
                  <a:lnTo>
                    <a:pt x="362254" y="13614"/>
                  </a:lnTo>
                  <a:lnTo>
                    <a:pt x="364820" y="16179"/>
                  </a:lnTo>
                  <a:lnTo>
                    <a:pt x="367385" y="18745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4" y="332968"/>
                  </a:lnTo>
                  <a:lnTo>
                    <a:pt x="379933" y="336537"/>
                  </a:lnTo>
                  <a:lnTo>
                    <a:pt x="379234" y="340093"/>
                  </a:lnTo>
                  <a:lnTo>
                    <a:pt x="364820" y="364820"/>
                  </a:lnTo>
                  <a:lnTo>
                    <a:pt x="362254" y="367385"/>
                  </a:lnTo>
                  <a:lnTo>
                    <a:pt x="336524" y="379933"/>
                  </a:lnTo>
                  <a:lnTo>
                    <a:pt x="332968" y="380644"/>
                  </a:lnTo>
                  <a:lnTo>
                    <a:pt x="329387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18" y="380644"/>
                  </a:lnTo>
                  <a:lnTo>
                    <a:pt x="44462" y="379933"/>
                  </a:lnTo>
                  <a:lnTo>
                    <a:pt x="40906" y="379234"/>
                  </a:lnTo>
                  <a:lnTo>
                    <a:pt x="16179" y="364820"/>
                  </a:lnTo>
                  <a:lnTo>
                    <a:pt x="13614" y="362254"/>
                  </a:lnTo>
                  <a:lnTo>
                    <a:pt x="11328" y="359460"/>
                  </a:lnTo>
                  <a:lnTo>
                    <a:pt x="9309" y="356438"/>
                  </a:lnTo>
                  <a:lnTo>
                    <a:pt x="7289" y="353428"/>
                  </a:lnTo>
                  <a:lnTo>
                    <a:pt x="5588" y="350253"/>
                  </a:lnTo>
                  <a:lnTo>
                    <a:pt x="4203" y="346900"/>
                  </a:lnTo>
                  <a:lnTo>
                    <a:pt x="2819" y="343547"/>
                  </a:lnTo>
                  <a:lnTo>
                    <a:pt x="1765" y="340093"/>
                  </a:lnTo>
                  <a:lnTo>
                    <a:pt x="1066" y="336537"/>
                  </a:lnTo>
                  <a:lnTo>
                    <a:pt x="355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488362" y="2573337"/>
            <a:ext cx="2013585" cy="11887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53365">
              <a:lnSpc>
                <a:spcPct val="109800"/>
              </a:lnSpc>
              <a:spcBef>
                <a:spcPts val="90"/>
              </a:spcBef>
            </a:pPr>
            <a:r>
              <a:rPr sz="1650" b="1" spc="-90" dirty="0">
                <a:solidFill>
                  <a:srgbClr val="E5E0DF"/>
                </a:solidFill>
                <a:latin typeface="Tahoma"/>
                <a:cs typeface="Tahoma"/>
              </a:rPr>
              <a:t>Inspired</a:t>
            </a:r>
            <a:r>
              <a:rPr sz="1650" b="1" spc="-150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by</a:t>
            </a:r>
            <a:r>
              <a:rPr sz="1650" b="1" spc="-150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65" dirty="0">
                <a:solidFill>
                  <a:srgbClr val="E5E0DF"/>
                </a:solidFill>
                <a:latin typeface="Tahoma"/>
                <a:cs typeface="Tahoma"/>
              </a:rPr>
              <a:t>Iconic </a:t>
            </a: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Droids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Resonates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with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E5E0DF"/>
                </a:solidFill>
                <a:latin typeface="Verdana"/>
                <a:cs typeface="Verdana"/>
              </a:rPr>
              <a:t>Star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E5E0DF"/>
                </a:solidFill>
                <a:latin typeface="Verdana"/>
                <a:cs typeface="Verdana"/>
              </a:rPr>
              <a:t>Wars </a:t>
            </a:r>
            <a:r>
              <a:rPr sz="1350" spc="-20" dirty="0">
                <a:solidFill>
                  <a:srgbClr val="E5E0DF"/>
                </a:solidFill>
                <a:latin typeface="Verdana"/>
                <a:cs typeface="Verdana"/>
              </a:rPr>
              <a:t>fans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86325" y="4162425"/>
            <a:ext cx="390525" cy="390525"/>
            <a:chOff x="4886325" y="4162425"/>
            <a:chExt cx="390525" cy="390525"/>
          </a:xfrm>
        </p:grpSpPr>
        <p:sp>
          <p:nvSpPr>
            <p:cNvPr id="13" name="object 13"/>
            <p:cNvSpPr/>
            <p:nvPr/>
          </p:nvSpPr>
          <p:spPr>
            <a:xfrm>
              <a:off x="4891087" y="416718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5" y="367385"/>
                  </a:lnTo>
                  <a:lnTo>
                    <a:pt x="51612" y="381000"/>
                  </a:lnTo>
                  <a:lnTo>
                    <a:pt x="329387" y="381000"/>
                  </a:lnTo>
                  <a:lnTo>
                    <a:pt x="367385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91087" y="416718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76796" y="3409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4" y="332968"/>
                  </a:lnTo>
                  <a:lnTo>
                    <a:pt x="379933" y="336537"/>
                  </a:lnTo>
                  <a:lnTo>
                    <a:pt x="379234" y="340093"/>
                  </a:lnTo>
                  <a:lnTo>
                    <a:pt x="356450" y="371690"/>
                  </a:lnTo>
                  <a:lnTo>
                    <a:pt x="336524" y="379933"/>
                  </a:lnTo>
                  <a:lnTo>
                    <a:pt x="332968" y="380644"/>
                  </a:lnTo>
                  <a:lnTo>
                    <a:pt x="329387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18" y="380644"/>
                  </a:lnTo>
                  <a:lnTo>
                    <a:pt x="44462" y="379933"/>
                  </a:lnTo>
                  <a:lnTo>
                    <a:pt x="40906" y="379234"/>
                  </a:lnTo>
                  <a:lnTo>
                    <a:pt x="9309" y="356438"/>
                  </a:lnTo>
                  <a:lnTo>
                    <a:pt x="7289" y="353428"/>
                  </a:lnTo>
                  <a:lnTo>
                    <a:pt x="1066" y="336537"/>
                  </a:lnTo>
                  <a:lnTo>
                    <a:pt x="355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430837" y="4144962"/>
            <a:ext cx="2398395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80" dirty="0">
                <a:solidFill>
                  <a:srgbClr val="E5E0DF"/>
                </a:solidFill>
                <a:latin typeface="Tahoma"/>
                <a:cs typeface="Tahoma"/>
              </a:rPr>
              <a:t>Real</a:t>
            </a:r>
            <a:r>
              <a:rPr sz="1650" b="1" spc="-155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Interaction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65" dirty="0">
                <a:solidFill>
                  <a:srgbClr val="E5E0DF"/>
                </a:solidFill>
                <a:latin typeface="Verdana"/>
                <a:cs typeface="Verdana"/>
              </a:rPr>
              <a:t>Engaged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with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NVIDIA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E5E0DF"/>
                </a:solidFill>
                <a:latin typeface="Verdana"/>
                <a:cs typeface="Verdana"/>
              </a:rPr>
              <a:t>CEO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Verdana"/>
                <a:cs typeface="Verdana"/>
              </a:rPr>
              <a:t>live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6" name="object 16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2C4A8C5-AFDA-7AF3-5D6B-270320229274}"/>
              </a:ext>
            </a:extLst>
          </p:cNvPr>
          <p:cNvSpPr/>
          <p:nvPr/>
        </p:nvSpPr>
        <p:spPr>
          <a:xfrm>
            <a:off x="9580244" y="5813425"/>
            <a:ext cx="1754504" cy="6254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9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85" dirty="0"/>
              <a:t>Real-</a:t>
            </a:r>
            <a:r>
              <a:rPr spc="-145" dirty="0"/>
              <a:t>World</a:t>
            </a:r>
            <a:r>
              <a:rPr spc="-300" dirty="0"/>
              <a:t> </a:t>
            </a:r>
            <a:r>
              <a:rPr spc="-10" dirty="0"/>
              <a:t>Magic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5" y="2982912"/>
            <a:ext cx="1391920" cy="123634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76200">
              <a:lnSpc>
                <a:spcPct val="106100"/>
              </a:lnSpc>
              <a:spcBef>
                <a:spcPts val="15"/>
              </a:spcBef>
            </a:pPr>
            <a:r>
              <a:rPr sz="1650" b="1" spc="-40" dirty="0">
                <a:solidFill>
                  <a:srgbClr val="FFFFFF"/>
                </a:solidFill>
                <a:latin typeface="Tahoma"/>
                <a:cs typeface="Tahoma"/>
              </a:rPr>
              <a:t>Disney</a:t>
            </a:r>
            <a:r>
              <a:rPr sz="1650" b="1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35" dirty="0">
                <a:solidFill>
                  <a:srgbClr val="FFFFFF"/>
                </a:solidFill>
                <a:latin typeface="Tahoma"/>
                <a:cs typeface="Tahoma"/>
              </a:rPr>
              <a:t>Parks </a:t>
            </a:r>
            <a:r>
              <a:rPr sz="1650" b="1" spc="-10" dirty="0">
                <a:solidFill>
                  <a:srgbClr val="FFFFFF"/>
                </a:solidFill>
                <a:latin typeface="Tahoma"/>
                <a:cs typeface="Tahoma"/>
              </a:rPr>
              <a:t>Debut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sz="1350" spc="-70" dirty="0">
                <a:solidFill>
                  <a:srgbClr val="E5E0DF"/>
                </a:solidFill>
                <a:latin typeface="Verdana"/>
                <a:cs typeface="Verdana"/>
              </a:rPr>
              <a:t>Global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attractions </a:t>
            </a:r>
            <a:r>
              <a:rPr sz="1350" spc="-10" dirty="0">
                <a:solidFill>
                  <a:srgbClr val="E5E0DF"/>
                </a:solidFill>
                <a:latin typeface="Verdana"/>
                <a:cs typeface="Verdana"/>
              </a:rPr>
              <a:t>appearance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17253" y="2982912"/>
            <a:ext cx="1428750" cy="969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FFFFFF"/>
                </a:solidFill>
                <a:latin typeface="Tahoma"/>
                <a:cs typeface="Tahoma"/>
              </a:rPr>
              <a:t>Movement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sz="1350" spc="-90" dirty="0">
                <a:solidFill>
                  <a:srgbClr val="E5E0DF"/>
                </a:solidFill>
                <a:latin typeface="Verdana"/>
                <a:cs typeface="Verdana"/>
              </a:rPr>
              <a:t>Walks,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rolls,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E5E0DF"/>
                </a:solidFill>
                <a:latin typeface="Verdana"/>
                <a:cs typeface="Verdana"/>
              </a:rPr>
              <a:t>nods, follows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Verdana"/>
                <a:cs typeface="Verdana"/>
              </a:rPr>
              <a:t>guests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71186" y="3018993"/>
            <a:ext cx="417195" cy="209550"/>
          </a:xfrm>
          <a:custGeom>
            <a:avLst/>
            <a:gdLst/>
            <a:ahLst/>
            <a:cxnLst/>
            <a:rect l="l" t="t" r="r" b="b"/>
            <a:pathLst>
              <a:path w="417195" h="209550">
                <a:moveTo>
                  <a:pt x="99987" y="37579"/>
                </a:moveTo>
                <a:lnTo>
                  <a:pt x="10515" y="37579"/>
                </a:lnTo>
                <a:lnTo>
                  <a:pt x="10515" y="90208"/>
                </a:lnTo>
                <a:lnTo>
                  <a:pt x="99987" y="90208"/>
                </a:lnTo>
                <a:lnTo>
                  <a:pt x="99987" y="69545"/>
                </a:lnTo>
                <a:lnTo>
                  <a:pt x="33324" y="69545"/>
                </a:lnTo>
                <a:lnTo>
                  <a:pt x="33324" y="58293"/>
                </a:lnTo>
                <a:lnTo>
                  <a:pt x="99987" y="58293"/>
                </a:lnTo>
                <a:lnTo>
                  <a:pt x="99987" y="37579"/>
                </a:lnTo>
                <a:close/>
              </a:path>
              <a:path w="417195" h="209550">
                <a:moveTo>
                  <a:pt x="99987" y="58293"/>
                </a:moveTo>
                <a:lnTo>
                  <a:pt x="76288" y="58293"/>
                </a:lnTo>
                <a:lnTo>
                  <a:pt x="76288" y="69545"/>
                </a:lnTo>
                <a:lnTo>
                  <a:pt x="99987" y="69545"/>
                </a:lnTo>
                <a:lnTo>
                  <a:pt x="99987" y="58293"/>
                </a:lnTo>
                <a:close/>
              </a:path>
              <a:path w="417195" h="209550">
                <a:moveTo>
                  <a:pt x="202521" y="191185"/>
                </a:moveTo>
                <a:lnTo>
                  <a:pt x="180568" y="191185"/>
                </a:lnTo>
                <a:lnTo>
                  <a:pt x="181064" y="193230"/>
                </a:lnTo>
                <a:lnTo>
                  <a:pt x="182456" y="199466"/>
                </a:lnTo>
                <a:lnTo>
                  <a:pt x="183705" y="209397"/>
                </a:lnTo>
                <a:lnTo>
                  <a:pt x="204889" y="203174"/>
                </a:lnTo>
                <a:lnTo>
                  <a:pt x="202521" y="191185"/>
                </a:lnTo>
                <a:close/>
              </a:path>
              <a:path w="417195" h="209550">
                <a:moveTo>
                  <a:pt x="380492" y="112598"/>
                </a:moveTo>
                <a:lnTo>
                  <a:pt x="238544" y="112598"/>
                </a:lnTo>
                <a:lnTo>
                  <a:pt x="238544" y="207619"/>
                </a:lnTo>
                <a:lnTo>
                  <a:pt x="263715" y="207619"/>
                </a:lnTo>
                <a:lnTo>
                  <a:pt x="263715" y="195643"/>
                </a:lnTo>
                <a:lnTo>
                  <a:pt x="380492" y="195643"/>
                </a:lnTo>
                <a:lnTo>
                  <a:pt x="380492" y="171729"/>
                </a:lnTo>
                <a:lnTo>
                  <a:pt x="263715" y="171729"/>
                </a:lnTo>
                <a:lnTo>
                  <a:pt x="263715" y="136042"/>
                </a:lnTo>
                <a:lnTo>
                  <a:pt x="380492" y="136042"/>
                </a:lnTo>
                <a:lnTo>
                  <a:pt x="380492" y="112598"/>
                </a:lnTo>
                <a:close/>
              </a:path>
              <a:path w="417195" h="209550">
                <a:moveTo>
                  <a:pt x="107061" y="93294"/>
                </a:moveTo>
                <a:lnTo>
                  <a:pt x="3251" y="93294"/>
                </a:lnTo>
                <a:lnTo>
                  <a:pt x="3251" y="207416"/>
                </a:lnTo>
                <a:lnTo>
                  <a:pt x="24955" y="207416"/>
                </a:lnTo>
                <a:lnTo>
                  <a:pt x="24955" y="160274"/>
                </a:lnTo>
                <a:lnTo>
                  <a:pt x="22288" y="160274"/>
                </a:lnTo>
                <a:lnTo>
                  <a:pt x="22288" y="140436"/>
                </a:lnTo>
                <a:lnTo>
                  <a:pt x="24955" y="140436"/>
                </a:lnTo>
                <a:lnTo>
                  <a:pt x="24955" y="119305"/>
                </a:lnTo>
                <a:lnTo>
                  <a:pt x="22872" y="115900"/>
                </a:lnTo>
                <a:lnTo>
                  <a:pt x="24914" y="115217"/>
                </a:lnTo>
                <a:lnTo>
                  <a:pt x="24955" y="114858"/>
                </a:lnTo>
                <a:lnTo>
                  <a:pt x="25986" y="114858"/>
                </a:lnTo>
                <a:lnTo>
                  <a:pt x="41021" y="109829"/>
                </a:lnTo>
                <a:lnTo>
                  <a:pt x="67338" y="109829"/>
                </a:lnTo>
                <a:lnTo>
                  <a:pt x="68122" y="107797"/>
                </a:lnTo>
                <a:lnTo>
                  <a:pt x="107061" y="107797"/>
                </a:lnTo>
                <a:lnTo>
                  <a:pt x="107061" y="93294"/>
                </a:lnTo>
                <a:close/>
              </a:path>
              <a:path w="417195" h="209550">
                <a:moveTo>
                  <a:pt x="380492" y="195643"/>
                </a:moveTo>
                <a:lnTo>
                  <a:pt x="354698" y="195643"/>
                </a:lnTo>
                <a:lnTo>
                  <a:pt x="354698" y="206781"/>
                </a:lnTo>
                <a:lnTo>
                  <a:pt x="380492" y="206781"/>
                </a:lnTo>
                <a:lnTo>
                  <a:pt x="380492" y="195643"/>
                </a:lnTo>
                <a:close/>
              </a:path>
              <a:path w="417195" h="209550">
                <a:moveTo>
                  <a:pt x="65722" y="183649"/>
                </a:moveTo>
                <a:lnTo>
                  <a:pt x="65722" y="190834"/>
                </a:lnTo>
                <a:lnTo>
                  <a:pt x="66875" y="193230"/>
                </a:lnTo>
                <a:lnTo>
                  <a:pt x="66979" y="193446"/>
                </a:lnTo>
                <a:lnTo>
                  <a:pt x="68491" y="198259"/>
                </a:lnTo>
                <a:lnTo>
                  <a:pt x="69619" y="205051"/>
                </a:lnTo>
                <a:lnTo>
                  <a:pt x="69697" y="205524"/>
                </a:lnTo>
                <a:lnTo>
                  <a:pt x="77858" y="205524"/>
                </a:lnTo>
                <a:lnTo>
                  <a:pt x="87641" y="205051"/>
                </a:lnTo>
                <a:lnTo>
                  <a:pt x="107061" y="191869"/>
                </a:lnTo>
                <a:lnTo>
                  <a:pt x="105707" y="186905"/>
                </a:lnTo>
                <a:lnTo>
                  <a:pt x="87172" y="186905"/>
                </a:lnTo>
                <a:lnTo>
                  <a:pt x="84874" y="185432"/>
                </a:lnTo>
                <a:lnTo>
                  <a:pt x="84874" y="183972"/>
                </a:lnTo>
                <a:lnTo>
                  <a:pt x="77381" y="183972"/>
                </a:lnTo>
                <a:lnTo>
                  <a:pt x="65722" y="183649"/>
                </a:lnTo>
                <a:close/>
              </a:path>
              <a:path w="417195" h="209550">
                <a:moveTo>
                  <a:pt x="163817" y="134785"/>
                </a:moveTo>
                <a:lnTo>
                  <a:pt x="140589" y="134785"/>
                </a:lnTo>
                <a:lnTo>
                  <a:pt x="140589" y="174663"/>
                </a:lnTo>
                <a:lnTo>
                  <a:pt x="107061" y="179505"/>
                </a:lnTo>
                <a:lnTo>
                  <a:pt x="107061" y="191869"/>
                </a:lnTo>
                <a:lnTo>
                  <a:pt x="110299" y="203746"/>
                </a:lnTo>
                <a:lnTo>
                  <a:pt x="180568" y="191185"/>
                </a:lnTo>
                <a:lnTo>
                  <a:pt x="202521" y="191185"/>
                </a:lnTo>
                <a:lnTo>
                  <a:pt x="201902" y="188051"/>
                </a:lnTo>
                <a:lnTo>
                  <a:pt x="197393" y="171729"/>
                </a:lnTo>
                <a:lnTo>
                  <a:pt x="197146" y="170942"/>
                </a:lnTo>
                <a:lnTo>
                  <a:pt x="163817" y="170942"/>
                </a:lnTo>
                <a:lnTo>
                  <a:pt x="163817" y="134785"/>
                </a:lnTo>
                <a:close/>
              </a:path>
              <a:path w="417195" h="209550">
                <a:moveTo>
                  <a:pt x="65722" y="160274"/>
                </a:moveTo>
                <a:lnTo>
                  <a:pt x="44577" y="160274"/>
                </a:lnTo>
                <a:lnTo>
                  <a:pt x="44577" y="202069"/>
                </a:lnTo>
                <a:lnTo>
                  <a:pt x="65722" y="202069"/>
                </a:lnTo>
                <a:lnTo>
                  <a:pt x="65722" y="190834"/>
                </a:lnTo>
                <a:lnTo>
                  <a:pt x="62263" y="183649"/>
                </a:lnTo>
                <a:lnTo>
                  <a:pt x="65722" y="183649"/>
                </a:lnTo>
                <a:lnTo>
                  <a:pt x="65722" y="160274"/>
                </a:lnTo>
                <a:close/>
              </a:path>
              <a:path w="417195" h="209550">
                <a:moveTo>
                  <a:pt x="107061" y="179505"/>
                </a:moveTo>
                <a:lnTo>
                  <a:pt x="103809" y="179946"/>
                </a:lnTo>
                <a:lnTo>
                  <a:pt x="107061" y="191869"/>
                </a:lnTo>
                <a:lnTo>
                  <a:pt x="107061" y="179505"/>
                </a:lnTo>
                <a:close/>
              </a:path>
              <a:path w="417195" h="209550">
                <a:moveTo>
                  <a:pt x="65722" y="183649"/>
                </a:moveTo>
                <a:lnTo>
                  <a:pt x="62263" y="183649"/>
                </a:lnTo>
                <a:lnTo>
                  <a:pt x="65722" y="190834"/>
                </a:lnTo>
                <a:lnTo>
                  <a:pt x="65722" y="183649"/>
                </a:lnTo>
                <a:close/>
              </a:path>
              <a:path w="417195" h="209550">
                <a:moveTo>
                  <a:pt x="107061" y="107797"/>
                </a:moveTo>
                <a:lnTo>
                  <a:pt x="68122" y="107797"/>
                </a:lnTo>
                <a:lnTo>
                  <a:pt x="84065" y="114858"/>
                </a:lnTo>
                <a:lnTo>
                  <a:pt x="84874" y="114858"/>
                </a:lnTo>
                <a:lnTo>
                  <a:pt x="84874" y="115217"/>
                </a:lnTo>
                <a:lnTo>
                  <a:pt x="87591" y="116420"/>
                </a:lnTo>
                <a:lnTo>
                  <a:pt x="84874" y="121573"/>
                </a:lnTo>
                <a:lnTo>
                  <a:pt x="84874" y="185432"/>
                </a:lnTo>
                <a:lnTo>
                  <a:pt x="87172" y="186905"/>
                </a:lnTo>
                <a:lnTo>
                  <a:pt x="87795" y="186270"/>
                </a:lnTo>
                <a:lnTo>
                  <a:pt x="86334" y="183972"/>
                </a:lnTo>
                <a:lnTo>
                  <a:pt x="104907" y="183972"/>
                </a:lnTo>
                <a:lnTo>
                  <a:pt x="103809" y="179946"/>
                </a:lnTo>
                <a:lnTo>
                  <a:pt x="107061" y="179505"/>
                </a:lnTo>
                <a:lnTo>
                  <a:pt x="107061" y="160274"/>
                </a:lnTo>
                <a:lnTo>
                  <a:pt x="86487" y="160274"/>
                </a:lnTo>
                <a:lnTo>
                  <a:pt x="86487" y="140436"/>
                </a:lnTo>
                <a:lnTo>
                  <a:pt x="107061" y="140436"/>
                </a:lnTo>
                <a:lnTo>
                  <a:pt x="107061" y="107797"/>
                </a:lnTo>
                <a:close/>
              </a:path>
              <a:path w="417195" h="209550">
                <a:moveTo>
                  <a:pt x="104907" y="183972"/>
                </a:moveTo>
                <a:lnTo>
                  <a:pt x="86334" y="183972"/>
                </a:lnTo>
                <a:lnTo>
                  <a:pt x="87795" y="186270"/>
                </a:lnTo>
                <a:lnTo>
                  <a:pt x="87172" y="186905"/>
                </a:lnTo>
                <a:lnTo>
                  <a:pt x="105707" y="186905"/>
                </a:lnTo>
                <a:lnTo>
                  <a:pt x="104907" y="183972"/>
                </a:lnTo>
                <a:close/>
              </a:path>
              <a:path w="417195" h="209550">
                <a:moveTo>
                  <a:pt x="380492" y="136042"/>
                </a:moveTo>
                <a:lnTo>
                  <a:pt x="354698" y="136042"/>
                </a:lnTo>
                <a:lnTo>
                  <a:pt x="354698" y="171729"/>
                </a:lnTo>
                <a:lnTo>
                  <a:pt x="380492" y="171729"/>
                </a:lnTo>
                <a:lnTo>
                  <a:pt x="380492" y="136042"/>
                </a:lnTo>
                <a:close/>
              </a:path>
              <a:path w="417195" h="209550">
                <a:moveTo>
                  <a:pt x="184492" y="137147"/>
                </a:moveTo>
                <a:lnTo>
                  <a:pt x="164185" y="141960"/>
                </a:lnTo>
                <a:lnTo>
                  <a:pt x="167850" y="151112"/>
                </a:lnTo>
                <a:lnTo>
                  <a:pt x="170761" y="158826"/>
                </a:lnTo>
                <a:lnTo>
                  <a:pt x="172933" y="164920"/>
                </a:lnTo>
                <a:lnTo>
                  <a:pt x="174383" y="169214"/>
                </a:lnTo>
                <a:lnTo>
                  <a:pt x="163817" y="170942"/>
                </a:lnTo>
                <a:lnTo>
                  <a:pt x="197146" y="170942"/>
                </a:lnTo>
                <a:lnTo>
                  <a:pt x="191394" y="154120"/>
                </a:lnTo>
                <a:lnTo>
                  <a:pt x="184571" y="137340"/>
                </a:lnTo>
                <a:lnTo>
                  <a:pt x="184492" y="137147"/>
                </a:lnTo>
                <a:close/>
              </a:path>
              <a:path w="417195" h="209550">
                <a:moveTo>
                  <a:pt x="24955" y="140436"/>
                </a:moveTo>
                <a:lnTo>
                  <a:pt x="22288" y="140436"/>
                </a:lnTo>
                <a:lnTo>
                  <a:pt x="22288" y="160274"/>
                </a:lnTo>
                <a:lnTo>
                  <a:pt x="24955" y="160274"/>
                </a:lnTo>
                <a:lnTo>
                  <a:pt x="24955" y="140436"/>
                </a:lnTo>
                <a:close/>
              </a:path>
              <a:path w="417195" h="209550">
                <a:moveTo>
                  <a:pt x="35710" y="140436"/>
                </a:moveTo>
                <a:lnTo>
                  <a:pt x="24955" y="140436"/>
                </a:lnTo>
                <a:lnTo>
                  <a:pt x="24955" y="160274"/>
                </a:lnTo>
                <a:lnTo>
                  <a:pt x="84874" y="160274"/>
                </a:lnTo>
                <a:lnTo>
                  <a:pt x="84874" y="149809"/>
                </a:lnTo>
                <a:lnTo>
                  <a:pt x="38671" y="149809"/>
                </a:lnTo>
                <a:lnTo>
                  <a:pt x="36154" y="141508"/>
                </a:lnTo>
                <a:lnTo>
                  <a:pt x="35710" y="140436"/>
                </a:lnTo>
                <a:close/>
              </a:path>
              <a:path w="417195" h="209550">
                <a:moveTo>
                  <a:pt x="107061" y="140436"/>
                </a:moveTo>
                <a:lnTo>
                  <a:pt x="86487" y="140436"/>
                </a:lnTo>
                <a:lnTo>
                  <a:pt x="86487" y="160274"/>
                </a:lnTo>
                <a:lnTo>
                  <a:pt x="107061" y="160274"/>
                </a:lnTo>
                <a:lnTo>
                  <a:pt x="107061" y="140436"/>
                </a:lnTo>
                <a:close/>
              </a:path>
              <a:path w="417195" h="209550">
                <a:moveTo>
                  <a:pt x="41021" y="109829"/>
                </a:moveTo>
                <a:lnTo>
                  <a:pt x="24955" y="115217"/>
                </a:lnTo>
                <a:lnTo>
                  <a:pt x="24955" y="119305"/>
                </a:lnTo>
                <a:lnTo>
                  <a:pt x="28382" y="124907"/>
                </a:lnTo>
                <a:lnTo>
                  <a:pt x="32767" y="133326"/>
                </a:lnTo>
                <a:lnTo>
                  <a:pt x="36154" y="141508"/>
                </a:lnTo>
                <a:lnTo>
                  <a:pt x="38671" y="149809"/>
                </a:lnTo>
                <a:lnTo>
                  <a:pt x="57086" y="142582"/>
                </a:lnTo>
                <a:lnTo>
                  <a:pt x="56307" y="140436"/>
                </a:lnTo>
                <a:lnTo>
                  <a:pt x="53530" y="140436"/>
                </a:lnTo>
                <a:lnTo>
                  <a:pt x="55183" y="137340"/>
                </a:lnTo>
                <a:lnTo>
                  <a:pt x="54125" y="134424"/>
                </a:lnTo>
                <a:lnTo>
                  <a:pt x="50425" y="126149"/>
                </a:lnTo>
                <a:lnTo>
                  <a:pt x="46060" y="117958"/>
                </a:lnTo>
                <a:lnTo>
                  <a:pt x="41021" y="109829"/>
                </a:lnTo>
                <a:close/>
              </a:path>
              <a:path w="417195" h="209550">
                <a:moveTo>
                  <a:pt x="68122" y="107797"/>
                </a:moveTo>
                <a:lnTo>
                  <a:pt x="55183" y="137340"/>
                </a:lnTo>
                <a:lnTo>
                  <a:pt x="57086" y="142582"/>
                </a:lnTo>
                <a:lnTo>
                  <a:pt x="38671" y="149809"/>
                </a:lnTo>
                <a:lnTo>
                  <a:pt x="84874" y="149809"/>
                </a:lnTo>
                <a:lnTo>
                  <a:pt x="84874" y="140436"/>
                </a:lnTo>
                <a:lnTo>
                  <a:pt x="74980" y="140436"/>
                </a:lnTo>
                <a:lnTo>
                  <a:pt x="76633" y="137340"/>
                </a:lnTo>
                <a:lnTo>
                  <a:pt x="82896" y="125324"/>
                </a:lnTo>
                <a:lnTo>
                  <a:pt x="84874" y="121573"/>
                </a:lnTo>
                <a:lnTo>
                  <a:pt x="84874" y="115217"/>
                </a:lnTo>
                <a:lnTo>
                  <a:pt x="68122" y="107797"/>
                </a:lnTo>
                <a:close/>
              </a:path>
              <a:path w="417195" h="209550">
                <a:moveTo>
                  <a:pt x="55183" y="137340"/>
                </a:moveTo>
                <a:lnTo>
                  <a:pt x="53530" y="140436"/>
                </a:lnTo>
                <a:lnTo>
                  <a:pt x="56307" y="140436"/>
                </a:lnTo>
                <a:lnTo>
                  <a:pt x="55183" y="137340"/>
                </a:lnTo>
                <a:close/>
              </a:path>
              <a:path w="417195" h="209550">
                <a:moveTo>
                  <a:pt x="195160" y="44640"/>
                </a:moveTo>
                <a:lnTo>
                  <a:pt x="108673" y="44640"/>
                </a:lnTo>
                <a:lnTo>
                  <a:pt x="108673" y="134785"/>
                </a:lnTo>
                <a:lnTo>
                  <a:pt x="195160" y="134785"/>
                </a:lnTo>
                <a:lnTo>
                  <a:pt x="195160" y="111506"/>
                </a:lnTo>
                <a:lnTo>
                  <a:pt x="129755" y="111506"/>
                </a:lnTo>
                <a:lnTo>
                  <a:pt x="129755" y="67500"/>
                </a:lnTo>
                <a:lnTo>
                  <a:pt x="195160" y="67500"/>
                </a:lnTo>
                <a:lnTo>
                  <a:pt x="195160" y="44640"/>
                </a:lnTo>
                <a:close/>
              </a:path>
              <a:path w="417195" h="209550">
                <a:moveTo>
                  <a:pt x="84874" y="115217"/>
                </a:moveTo>
                <a:lnTo>
                  <a:pt x="84874" y="121573"/>
                </a:lnTo>
                <a:lnTo>
                  <a:pt x="87591" y="116420"/>
                </a:lnTo>
                <a:lnTo>
                  <a:pt x="84874" y="115217"/>
                </a:lnTo>
                <a:close/>
              </a:path>
              <a:path w="417195" h="209550">
                <a:moveTo>
                  <a:pt x="24955" y="115217"/>
                </a:moveTo>
                <a:lnTo>
                  <a:pt x="22872" y="115900"/>
                </a:lnTo>
                <a:lnTo>
                  <a:pt x="24955" y="119305"/>
                </a:lnTo>
                <a:lnTo>
                  <a:pt x="24955" y="115217"/>
                </a:lnTo>
                <a:close/>
              </a:path>
              <a:path w="417195" h="209550">
                <a:moveTo>
                  <a:pt x="67338" y="109829"/>
                </a:moveTo>
                <a:lnTo>
                  <a:pt x="41021" y="109829"/>
                </a:lnTo>
                <a:lnTo>
                  <a:pt x="44138" y="114858"/>
                </a:lnTo>
                <a:lnTo>
                  <a:pt x="65396" y="114858"/>
                </a:lnTo>
                <a:lnTo>
                  <a:pt x="67338" y="109829"/>
                </a:lnTo>
                <a:close/>
              </a:path>
              <a:path w="417195" h="209550">
                <a:moveTo>
                  <a:pt x="162775" y="67500"/>
                </a:moveTo>
                <a:lnTo>
                  <a:pt x="141693" y="67500"/>
                </a:lnTo>
                <a:lnTo>
                  <a:pt x="141693" y="111506"/>
                </a:lnTo>
                <a:lnTo>
                  <a:pt x="162775" y="111506"/>
                </a:lnTo>
                <a:lnTo>
                  <a:pt x="162775" y="67500"/>
                </a:lnTo>
                <a:close/>
              </a:path>
              <a:path w="417195" h="209550">
                <a:moveTo>
                  <a:pt x="195160" y="67500"/>
                </a:moveTo>
                <a:lnTo>
                  <a:pt x="173609" y="67500"/>
                </a:lnTo>
                <a:lnTo>
                  <a:pt x="173609" y="111506"/>
                </a:lnTo>
                <a:lnTo>
                  <a:pt x="195160" y="111506"/>
                </a:lnTo>
                <a:lnTo>
                  <a:pt x="195160" y="67500"/>
                </a:lnTo>
                <a:close/>
              </a:path>
              <a:path w="417195" h="209550">
                <a:moveTo>
                  <a:pt x="310273" y="0"/>
                </a:moveTo>
                <a:lnTo>
                  <a:pt x="289869" y="25412"/>
                </a:lnTo>
                <a:lnTo>
                  <a:pt x="264442" y="47712"/>
                </a:lnTo>
                <a:lnTo>
                  <a:pt x="234582" y="66770"/>
                </a:lnTo>
                <a:lnTo>
                  <a:pt x="200875" y="82461"/>
                </a:lnTo>
                <a:lnTo>
                  <a:pt x="207318" y="88136"/>
                </a:lnTo>
                <a:lnTo>
                  <a:pt x="212164" y="93294"/>
                </a:lnTo>
                <a:lnTo>
                  <a:pt x="215956" y="98288"/>
                </a:lnTo>
                <a:lnTo>
                  <a:pt x="219341" y="103606"/>
                </a:lnTo>
                <a:lnTo>
                  <a:pt x="229777" y="98861"/>
                </a:lnTo>
                <a:lnTo>
                  <a:pt x="238556" y="94611"/>
                </a:lnTo>
                <a:lnTo>
                  <a:pt x="245316" y="91119"/>
                </a:lnTo>
                <a:lnTo>
                  <a:pt x="249694" y="88646"/>
                </a:lnTo>
                <a:lnTo>
                  <a:pt x="366788" y="88646"/>
                </a:lnTo>
                <a:lnTo>
                  <a:pt x="366788" y="85077"/>
                </a:lnTo>
                <a:lnTo>
                  <a:pt x="411577" y="85077"/>
                </a:lnTo>
                <a:lnTo>
                  <a:pt x="416864" y="80111"/>
                </a:lnTo>
                <a:lnTo>
                  <a:pt x="399292" y="72110"/>
                </a:lnTo>
                <a:lnTo>
                  <a:pt x="275170" y="72110"/>
                </a:lnTo>
                <a:lnTo>
                  <a:pt x="281565" y="67290"/>
                </a:lnTo>
                <a:lnTo>
                  <a:pt x="290536" y="59677"/>
                </a:lnTo>
                <a:lnTo>
                  <a:pt x="300418" y="50482"/>
                </a:lnTo>
                <a:lnTo>
                  <a:pt x="309549" y="40919"/>
                </a:lnTo>
                <a:lnTo>
                  <a:pt x="345745" y="40919"/>
                </a:lnTo>
                <a:lnTo>
                  <a:pt x="342853" y="38899"/>
                </a:lnTo>
                <a:lnTo>
                  <a:pt x="324827" y="22352"/>
                </a:lnTo>
                <a:lnTo>
                  <a:pt x="332511" y="11468"/>
                </a:lnTo>
                <a:lnTo>
                  <a:pt x="310273" y="0"/>
                </a:lnTo>
                <a:close/>
              </a:path>
              <a:path w="417195" h="209550">
                <a:moveTo>
                  <a:pt x="411577" y="85077"/>
                </a:moveTo>
                <a:lnTo>
                  <a:pt x="366788" y="85077"/>
                </a:lnTo>
                <a:lnTo>
                  <a:pt x="371461" y="87801"/>
                </a:lnTo>
                <a:lnTo>
                  <a:pt x="378637" y="91660"/>
                </a:lnTo>
                <a:lnTo>
                  <a:pt x="388052" y="96441"/>
                </a:lnTo>
                <a:lnTo>
                  <a:pt x="399440" y="101930"/>
                </a:lnTo>
                <a:lnTo>
                  <a:pt x="402559" y="96026"/>
                </a:lnTo>
                <a:lnTo>
                  <a:pt x="406228" y="90844"/>
                </a:lnTo>
                <a:lnTo>
                  <a:pt x="410859" y="85751"/>
                </a:lnTo>
                <a:lnTo>
                  <a:pt x="411577" y="85077"/>
                </a:lnTo>
                <a:close/>
              </a:path>
              <a:path w="417195" h="209550">
                <a:moveTo>
                  <a:pt x="366788" y="88646"/>
                </a:moveTo>
                <a:lnTo>
                  <a:pt x="249694" y="88646"/>
                </a:lnTo>
                <a:lnTo>
                  <a:pt x="249694" y="95758"/>
                </a:lnTo>
                <a:lnTo>
                  <a:pt x="366788" y="95758"/>
                </a:lnTo>
                <a:lnTo>
                  <a:pt x="366788" y="88646"/>
                </a:lnTo>
                <a:close/>
              </a:path>
              <a:path w="417195" h="209550">
                <a:moveTo>
                  <a:pt x="345745" y="40919"/>
                </a:moveTo>
                <a:lnTo>
                  <a:pt x="309549" y="40919"/>
                </a:lnTo>
                <a:lnTo>
                  <a:pt x="320004" y="51157"/>
                </a:lnTo>
                <a:lnTo>
                  <a:pt x="330573" y="60420"/>
                </a:lnTo>
                <a:lnTo>
                  <a:pt x="339719" y="67729"/>
                </a:lnTo>
                <a:lnTo>
                  <a:pt x="345909" y="72110"/>
                </a:lnTo>
                <a:lnTo>
                  <a:pt x="399292" y="72110"/>
                </a:lnTo>
                <a:lnTo>
                  <a:pt x="388707" y="67290"/>
                </a:lnTo>
                <a:lnTo>
                  <a:pt x="364012" y="53679"/>
                </a:lnTo>
                <a:lnTo>
                  <a:pt x="345745" y="40919"/>
                </a:lnTo>
                <a:close/>
              </a:path>
              <a:path w="417195" h="209550">
                <a:moveTo>
                  <a:pt x="163817" y="3517"/>
                </a:moveTo>
                <a:lnTo>
                  <a:pt x="140589" y="3517"/>
                </a:lnTo>
                <a:lnTo>
                  <a:pt x="140589" y="44640"/>
                </a:lnTo>
                <a:lnTo>
                  <a:pt x="163817" y="44640"/>
                </a:lnTo>
                <a:lnTo>
                  <a:pt x="163817" y="3517"/>
                </a:lnTo>
                <a:close/>
              </a:path>
              <a:path w="417195" h="209550">
                <a:moveTo>
                  <a:pt x="110248" y="11468"/>
                </a:moveTo>
                <a:lnTo>
                  <a:pt x="0" y="11468"/>
                </a:lnTo>
                <a:lnTo>
                  <a:pt x="0" y="34277"/>
                </a:lnTo>
                <a:lnTo>
                  <a:pt x="110248" y="34277"/>
                </a:lnTo>
                <a:lnTo>
                  <a:pt x="110248" y="11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47132" y="2982912"/>
            <a:ext cx="1627505" cy="123634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90805" indent="459740">
              <a:lnSpc>
                <a:spcPct val="106100"/>
              </a:lnSpc>
              <a:spcBef>
                <a:spcPts val="15"/>
              </a:spcBef>
            </a:pPr>
            <a:r>
              <a:rPr sz="1650" b="1" spc="-50" dirty="0">
                <a:solidFill>
                  <a:srgbClr val="FFFFFF"/>
                </a:solidFill>
                <a:latin typeface="Tahoma"/>
                <a:cs typeface="Tahoma"/>
              </a:rPr>
              <a:t>Robotics</a:t>
            </a:r>
            <a:r>
              <a:rPr sz="1650" b="1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229" dirty="0">
                <a:solidFill>
                  <a:srgbClr val="FFFFFF"/>
                </a:solidFill>
                <a:latin typeface="Tahoma"/>
                <a:cs typeface="Tahoma"/>
              </a:rPr>
              <a:t>s </a:t>
            </a:r>
            <a:r>
              <a:rPr sz="1650" b="1" spc="-10" dirty="0">
                <a:solidFill>
                  <a:srgbClr val="FFFFFF"/>
                </a:solidFill>
                <a:latin typeface="Tahoma"/>
                <a:cs typeface="Tahoma"/>
              </a:rPr>
              <a:t>Storytelling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sz="1350" spc="-70" dirty="0">
                <a:solidFill>
                  <a:srgbClr val="E5E0DF"/>
                </a:solidFill>
                <a:latin typeface="Verdana"/>
                <a:cs typeface="Verdana"/>
              </a:rPr>
              <a:t>Seamless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E5E0DF"/>
                </a:solidFill>
                <a:latin typeface="Verdana"/>
                <a:cs typeface="Verdana"/>
              </a:rPr>
              <a:t>animation </a:t>
            </a:r>
            <a:r>
              <a:rPr sz="1350" spc="-70" dirty="0">
                <a:solidFill>
                  <a:srgbClr val="E5E0DF"/>
                </a:solidFill>
                <a:latin typeface="Verdana"/>
                <a:cs typeface="Verdana"/>
              </a:rPr>
              <a:t>and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E5E0DF"/>
                </a:solidFill>
                <a:latin typeface="Verdana"/>
                <a:cs typeface="Verdana"/>
              </a:rPr>
              <a:t>character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E5E0DF"/>
                </a:solidFill>
                <a:latin typeface="Verdana"/>
                <a:cs typeface="Verdana"/>
              </a:rPr>
              <a:t>magic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91FF1A-B02A-E13A-315C-FF24EE19B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"/>
            <a:ext cx="3200400" cy="6445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530225"/>
            <a:ext cx="541020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5" dirty="0"/>
              <a:t>Amazing</a:t>
            </a:r>
            <a:r>
              <a:rPr spc="-335" dirty="0"/>
              <a:t> </a:t>
            </a:r>
            <a:r>
              <a:rPr spc="-75" dirty="0"/>
              <a:t>Facts</a:t>
            </a:r>
            <a:r>
              <a:rPr spc="-330" dirty="0"/>
              <a:t> </a:t>
            </a:r>
            <a:r>
              <a:rPr spc="-90" dirty="0"/>
              <a:t>About</a:t>
            </a:r>
            <a:r>
              <a:rPr spc="-335" dirty="0"/>
              <a:t> </a:t>
            </a:r>
            <a:r>
              <a:rPr spc="-40" dirty="0"/>
              <a:t>BLUE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86325" y="1343024"/>
            <a:ext cx="5943600" cy="1009650"/>
            <a:chOff x="4886325" y="1343024"/>
            <a:chExt cx="5943600" cy="1009650"/>
          </a:xfrm>
        </p:grpSpPr>
        <p:sp>
          <p:nvSpPr>
            <p:cNvPr id="5" name="object 5"/>
            <p:cNvSpPr/>
            <p:nvPr/>
          </p:nvSpPr>
          <p:spPr>
            <a:xfrm>
              <a:off x="4891087" y="13477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944880"/>
                  </a:lnTo>
                  <a:lnTo>
                    <a:pt x="0" y="948512"/>
                  </a:lnTo>
                  <a:lnTo>
                    <a:pt x="18745" y="986510"/>
                  </a:lnTo>
                  <a:lnTo>
                    <a:pt x="51612" y="1000125"/>
                  </a:lnTo>
                  <a:lnTo>
                    <a:pt x="5882462" y="1000125"/>
                  </a:lnTo>
                  <a:lnTo>
                    <a:pt x="5920460" y="981379"/>
                  </a:lnTo>
                  <a:lnTo>
                    <a:pt x="5934075" y="948512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91087" y="13477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0" y="9448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44880"/>
                  </a:lnTo>
                  <a:lnTo>
                    <a:pt x="5934075" y="948512"/>
                  </a:lnTo>
                  <a:lnTo>
                    <a:pt x="5933719" y="952093"/>
                  </a:lnTo>
                  <a:lnTo>
                    <a:pt x="5933008" y="955662"/>
                  </a:lnTo>
                  <a:lnTo>
                    <a:pt x="5932309" y="959218"/>
                  </a:lnTo>
                  <a:lnTo>
                    <a:pt x="5917895" y="983945"/>
                  </a:lnTo>
                  <a:lnTo>
                    <a:pt x="5915329" y="986510"/>
                  </a:lnTo>
                  <a:lnTo>
                    <a:pt x="5889599" y="999058"/>
                  </a:lnTo>
                  <a:lnTo>
                    <a:pt x="5886043" y="999769"/>
                  </a:lnTo>
                  <a:lnTo>
                    <a:pt x="5882462" y="1000125"/>
                  </a:lnTo>
                  <a:lnTo>
                    <a:pt x="5878830" y="1000125"/>
                  </a:lnTo>
                  <a:lnTo>
                    <a:pt x="55245" y="1000125"/>
                  </a:lnTo>
                  <a:lnTo>
                    <a:pt x="51612" y="1000125"/>
                  </a:lnTo>
                  <a:lnTo>
                    <a:pt x="48018" y="999769"/>
                  </a:lnTo>
                  <a:lnTo>
                    <a:pt x="44462" y="999058"/>
                  </a:lnTo>
                  <a:lnTo>
                    <a:pt x="40906" y="998359"/>
                  </a:lnTo>
                  <a:lnTo>
                    <a:pt x="9309" y="975563"/>
                  </a:lnTo>
                  <a:lnTo>
                    <a:pt x="7289" y="972553"/>
                  </a:lnTo>
                  <a:lnTo>
                    <a:pt x="1066" y="955662"/>
                  </a:lnTo>
                  <a:lnTo>
                    <a:pt x="355" y="952093"/>
                  </a:lnTo>
                  <a:lnTo>
                    <a:pt x="0" y="948512"/>
                  </a:lnTo>
                  <a:lnTo>
                    <a:pt x="0" y="944880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054600" y="1506537"/>
            <a:ext cx="2113280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55" dirty="0">
                <a:solidFill>
                  <a:srgbClr val="E5E0DF"/>
                </a:solidFill>
                <a:latin typeface="Tahoma"/>
                <a:cs typeface="Tahoma"/>
              </a:rPr>
              <a:t>LED</a:t>
            </a:r>
            <a:r>
              <a:rPr sz="1650" b="1" spc="-160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Expressions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85" dirty="0">
                <a:solidFill>
                  <a:srgbClr val="E5E0DF"/>
                </a:solidFill>
                <a:latin typeface="Verdana"/>
                <a:cs typeface="Verdana"/>
              </a:rPr>
              <a:t>Dynamic</a:t>
            </a: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E5E0DF"/>
                </a:solidFill>
                <a:latin typeface="Verdana"/>
                <a:cs typeface="Verdana"/>
              </a:rPr>
              <a:t>emotional</a:t>
            </a: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E5E0DF"/>
                </a:solidFill>
                <a:latin typeface="Verdana"/>
                <a:cs typeface="Verdana"/>
              </a:rPr>
              <a:t>display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86325" y="2524124"/>
            <a:ext cx="5943600" cy="1009650"/>
            <a:chOff x="4886325" y="2524124"/>
            <a:chExt cx="5943600" cy="1009650"/>
          </a:xfrm>
        </p:grpSpPr>
        <p:sp>
          <p:nvSpPr>
            <p:cNvPr id="9" name="object 9"/>
            <p:cNvSpPr/>
            <p:nvPr/>
          </p:nvSpPr>
          <p:spPr>
            <a:xfrm>
              <a:off x="4891087" y="25288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944880"/>
                  </a:lnTo>
                  <a:lnTo>
                    <a:pt x="0" y="948512"/>
                  </a:lnTo>
                  <a:lnTo>
                    <a:pt x="18745" y="986510"/>
                  </a:lnTo>
                  <a:lnTo>
                    <a:pt x="51612" y="1000125"/>
                  </a:lnTo>
                  <a:lnTo>
                    <a:pt x="5882462" y="1000125"/>
                  </a:lnTo>
                  <a:lnTo>
                    <a:pt x="5920460" y="981379"/>
                  </a:lnTo>
                  <a:lnTo>
                    <a:pt x="5934075" y="948512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91087" y="25288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0" y="9448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44880"/>
                  </a:lnTo>
                  <a:lnTo>
                    <a:pt x="5934075" y="948512"/>
                  </a:lnTo>
                  <a:lnTo>
                    <a:pt x="5933719" y="952093"/>
                  </a:lnTo>
                  <a:lnTo>
                    <a:pt x="5933008" y="955662"/>
                  </a:lnTo>
                  <a:lnTo>
                    <a:pt x="5932309" y="959218"/>
                  </a:lnTo>
                  <a:lnTo>
                    <a:pt x="5917895" y="983945"/>
                  </a:lnTo>
                  <a:lnTo>
                    <a:pt x="5915329" y="986510"/>
                  </a:lnTo>
                  <a:lnTo>
                    <a:pt x="5889599" y="999058"/>
                  </a:lnTo>
                  <a:lnTo>
                    <a:pt x="5886043" y="999769"/>
                  </a:lnTo>
                  <a:lnTo>
                    <a:pt x="5882462" y="1000125"/>
                  </a:lnTo>
                  <a:lnTo>
                    <a:pt x="5878830" y="1000125"/>
                  </a:lnTo>
                  <a:lnTo>
                    <a:pt x="55245" y="1000125"/>
                  </a:lnTo>
                  <a:lnTo>
                    <a:pt x="51612" y="1000125"/>
                  </a:lnTo>
                  <a:lnTo>
                    <a:pt x="48018" y="999769"/>
                  </a:lnTo>
                  <a:lnTo>
                    <a:pt x="44462" y="999058"/>
                  </a:lnTo>
                  <a:lnTo>
                    <a:pt x="40906" y="998359"/>
                  </a:lnTo>
                  <a:lnTo>
                    <a:pt x="9309" y="975563"/>
                  </a:lnTo>
                  <a:lnTo>
                    <a:pt x="7289" y="972553"/>
                  </a:lnTo>
                  <a:lnTo>
                    <a:pt x="1066" y="955662"/>
                  </a:lnTo>
                  <a:lnTo>
                    <a:pt x="355" y="952093"/>
                  </a:lnTo>
                  <a:lnTo>
                    <a:pt x="0" y="948512"/>
                  </a:lnTo>
                  <a:lnTo>
                    <a:pt x="0" y="944880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54600" y="2687637"/>
            <a:ext cx="2543175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95" dirty="0">
                <a:solidFill>
                  <a:srgbClr val="E5E0DF"/>
                </a:solidFill>
                <a:latin typeface="Tahoma"/>
                <a:cs typeface="Tahoma"/>
              </a:rPr>
              <a:t>Interactive</a:t>
            </a:r>
            <a:r>
              <a:rPr sz="1650" b="1" spc="-90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Reactions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60" dirty="0">
                <a:solidFill>
                  <a:srgbClr val="E5E0DF"/>
                </a:solidFill>
                <a:latin typeface="Verdana"/>
                <a:cs typeface="Verdana"/>
              </a:rPr>
              <a:t>Responds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E5E0DF"/>
                </a:solidFill>
                <a:latin typeface="Verdana"/>
                <a:cs typeface="Verdana"/>
              </a:rPr>
              <a:t>to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hugs,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waves,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Verdana"/>
                <a:cs typeface="Verdana"/>
              </a:rPr>
              <a:t>tones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86325" y="3705225"/>
            <a:ext cx="5943600" cy="1000125"/>
            <a:chOff x="4886325" y="3705225"/>
            <a:chExt cx="5943600" cy="1000125"/>
          </a:xfrm>
        </p:grpSpPr>
        <p:sp>
          <p:nvSpPr>
            <p:cNvPr id="13" name="object 13"/>
            <p:cNvSpPr/>
            <p:nvPr/>
          </p:nvSpPr>
          <p:spPr>
            <a:xfrm>
              <a:off x="4891087" y="3709987"/>
              <a:ext cx="5934075" cy="990600"/>
            </a:xfrm>
            <a:custGeom>
              <a:avLst/>
              <a:gdLst/>
              <a:ahLst/>
              <a:cxnLst/>
              <a:rect l="l" t="t" r="r" b="b"/>
              <a:pathLst>
                <a:path w="5934075" h="990600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935355"/>
                  </a:lnTo>
                  <a:lnTo>
                    <a:pt x="0" y="938987"/>
                  </a:lnTo>
                  <a:lnTo>
                    <a:pt x="18745" y="976985"/>
                  </a:lnTo>
                  <a:lnTo>
                    <a:pt x="51612" y="990600"/>
                  </a:lnTo>
                  <a:lnTo>
                    <a:pt x="5882462" y="990600"/>
                  </a:lnTo>
                  <a:lnTo>
                    <a:pt x="5920460" y="971854"/>
                  </a:lnTo>
                  <a:lnTo>
                    <a:pt x="5934075" y="938987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91087" y="3709987"/>
              <a:ext cx="5934075" cy="990600"/>
            </a:xfrm>
            <a:custGeom>
              <a:avLst/>
              <a:gdLst/>
              <a:ahLst/>
              <a:cxnLst/>
              <a:rect l="l" t="t" r="r" b="b"/>
              <a:pathLst>
                <a:path w="5934075" h="990600">
                  <a:moveTo>
                    <a:pt x="0" y="9353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35355"/>
                  </a:lnTo>
                  <a:lnTo>
                    <a:pt x="5934075" y="938987"/>
                  </a:lnTo>
                  <a:lnTo>
                    <a:pt x="5933719" y="942568"/>
                  </a:lnTo>
                  <a:lnTo>
                    <a:pt x="5933008" y="946137"/>
                  </a:lnTo>
                  <a:lnTo>
                    <a:pt x="5932309" y="949693"/>
                  </a:lnTo>
                  <a:lnTo>
                    <a:pt x="5917895" y="974420"/>
                  </a:lnTo>
                  <a:lnTo>
                    <a:pt x="5915329" y="976985"/>
                  </a:lnTo>
                  <a:lnTo>
                    <a:pt x="5889599" y="989533"/>
                  </a:lnTo>
                  <a:lnTo>
                    <a:pt x="5886043" y="990244"/>
                  </a:lnTo>
                  <a:lnTo>
                    <a:pt x="5882462" y="990600"/>
                  </a:lnTo>
                  <a:lnTo>
                    <a:pt x="5878830" y="990600"/>
                  </a:lnTo>
                  <a:lnTo>
                    <a:pt x="55245" y="990600"/>
                  </a:lnTo>
                  <a:lnTo>
                    <a:pt x="51612" y="990600"/>
                  </a:lnTo>
                  <a:lnTo>
                    <a:pt x="48018" y="990244"/>
                  </a:lnTo>
                  <a:lnTo>
                    <a:pt x="44462" y="989533"/>
                  </a:lnTo>
                  <a:lnTo>
                    <a:pt x="40906" y="988834"/>
                  </a:lnTo>
                  <a:lnTo>
                    <a:pt x="9309" y="966038"/>
                  </a:lnTo>
                  <a:lnTo>
                    <a:pt x="7289" y="963028"/>
                  </a:lnTo>
                  <a:lnTo>
                    <a:pt x="1066" y="946137"/>
                  </a:lnTo>
                  <a:lnTo>
                    <a:pt x="355" y="942568"/>
                  </a:lnTo>
                  <a:lnTo>
                    <a:pt x="0" y="938987"/>
                  </a:lnTo>
                  <a:lnTo>
                    <a:pt x="0" y="935355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54600" y="3868737"/>
            <a:ext cx="2181225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Personality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70" dirty="0">
                <a:solidFill>
                  <a:srgbClr val="E5E0DF"/>
                </a:solidFill>
                <a:latin typeface="Verdana"/>
                <a:cs typeface="Verdana"/>
              </a:rPr>
              <a:t>Playful,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E5E0DF"/>
                </a:solidFill>
                <a:latin typeface="Verdana"/>
                <a:cs typeface="Verdana"/>
              </a:rPr>
              <a:t>curious,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brave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E5E0DF"/>
                </a:solidFill>
                <a:latin typeface="Verdana"/>
                <a:cs typeface="Verdana"/>
              </a:rPr>
              <a:t>traits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86325" y="4876800"/>
            <a:ext cx="5943600" cy="1009650"/>
            <a:chOff x="4886325" y="4876800"/>
            <a:chExt cx="5943600" cy="1009650"/>
          </a:xfrm>
        </p:grpSpPr>
        <p:sp>
          <p:nvSpPr>
            <p:cNvPr id="17" name="object 17"/>
            <p:cNvSpPr/>
            <p:nvPr/>
          </p:nvSpPr>
          <p:spPr>
            <a:xfrm>
              <a:off x="4891087" y="4881562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944881"/>
                  </a:lnTo>
                  <a:lnTo>
                    <a:pt x="0" y="948507"/>
                  </a:lnTo>
                  <a:lnTo>
                    <a:pt x="18745" y="986508"/>
                  </a:lnTo>
                  <a:lnTo>
                    <a:pt x="51612" y="1000126"/>
                  </a:lnTo>
                  <a:lnTo>
                    <a:pt x="5882462" y="1000126"/>
                  </a:lnTo>
                  <a:lnTo>
                    <a:pt x="5920460" y="981378"/>
                  </a:lnTo>
                  <a:lnTo>
                    <a:pt x="5934075" y="948507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91087" y="4881562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0" y="944881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44881"/>
                  </a:lnTo>
                  <a:lnTo>
                    <a:pt x="5934075" y="948507"/>
                  </a:lnTo>
                  <a:lnTo>
                    <a:pt x="5933719" y="952098"/>
                  </a:lnTo>
                  <a:lnTo>
                    <a:pt x="5933008" y="955655"/>
                  </a:lnTo>
                  <a:lnTo>
                    <a:pt x="5932309" y="959213"/>
                  </a:lnTo>
                  <a:lnTo>
                    <a:pt x="5909513" y="990814"/>
                  </a:lnTo>
                  <a:lnTo>
                    <a:pt x="5906503" y="992828"/>
                  </a:lnTo>
                  <a:lnTo>
                    <a:pt x="5903328" y="994530"/>
                  </a:lnTo>
                  <a:lnTo>
                    <a:pt x="5899962" y="995918"/>
                  </a:lnTo>
                  <a:lnTo>
                    <a:pt x="5896622" y="997308"/>
                  </a:lnTo>
                  <a:lnTo>
                    <a:pt x="5893168" y="998354"/>
                  </a:lnTo>
                  <a:lnTo>
                    <a:pt x="5889599" y="999064"/>
                  </a:lnTo>
                  <a:lnTo>
                    <a:pt x="5886043" y="999769"/>
                  </a:lnTo>
                  <a:lnTo>
                    <a:pt x="5882462" y="1000126"/>
                  </a:lnTo>
                  <a:lnTo>
                    <a:pt x="5878830" y="1000126"/>
                  </a:lnTo>
                  <a:lnTo>
                    <a:pt x="55245" y="1000126"/>
                  </a:lnTo>
                  <a:lnTo>
                    <a:pt x="51612" y="1000126"/>
                  </a:lnTo>
                  <a:lnTo>
                    <a:pt x="48018" y="999769"/>
                  </a:lnTo>
                  <a:lnTo>
                    <a:pt x="44462" y="999064"/>
                  </a:lnTo>
                  <a:lnTo>
                    <a:pt x="40906" y="998354"/>
                  </a:lnTo>
                  <a:lnTo>
                    <a:pt x="37452" y="997308"/>
                  </a:lnTo>
                  <a:lnTo>
                    <a:pt x="34099" y="995918"/>
                  </a:lnTo>
                  <a:lnTo>
                    <a:pt x="30746" y="994530"/>
                  </a:lnTo>
                  <a:lnTo>
                    <a:pt x="4203" y="966019"/>
                  </a:lnTo>
                  <a:lnTo>
                    <a:pt x="1066" y="955655"/>
                  </a:lnTo>
                  <a:lnTo>
                    <a:pt x="355" y="952098"/>
                  </a:lnTo>
                  <a:lnTo>
                    <a:pt x="0" y="948507"/>
                  </a:lnTo>
                  <a:lnTo>
                    <a:pt x="0" y="944881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54600" y="5040313"/>
            <a:ext cx="2352040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40" dirty="0">
                <a:solidFill>
                  <a:srgbClr val="E5E0DF"/>
                </a:solidFill>
                <a:latin typeface="Tahoma"/>
                <a:cs typeface="Tahoma"/>
              </a:rPr>
              <a:t>Joint</a:t>
            </a:r>
            <a:r>
              <a:rPr sz="1650" b="1" spc="-155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Design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125" dirty="0">
                <a:solidFill>
                  <a:srgbClr val="E5E0DF"/>
                </a:solidFill>
                <a:latin typeface="Verdana"/>
                <a:cs typeface="Verdana"/>
              </a:rPr>
              <a:t>AI </a:t>
            </a: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experts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&amp;</a:t>
            </a:r>
            <a:r>
              <a:rPr sz="1350" spc="-12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Disney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E5E0DF"/>
                </a:solidFill>
                <a:latin typeface="Verdana"/>
                <a:cs typeface="Verdana"/>
              </a:rPr>
              <a:t>animators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20" name="object 20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E6D0429-2515-3968-25C8-785A127420FD}"/>
              </a:ext>
            </a:extLst>
          </p:cNvPr>
          <p:cNvSpPr/>
          <p:nvPr/>
        </p:nvSpPr>
        <p:spPr>
          <a:xfrm>
            <a:off x="9580244" y="5813425"/>
            <a:ext cx="1754504" cy="5317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254125"/>
            <a:ext cx="590423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0" dirty="0"/>
              <a:t>The</a:t>
            </a:r>
            <a:r>
              <a:rPr spc="-360" dirty="0"/>
              <a:t> </a:t>
            </a:r>
            <a:r>
              <a:rPr spc="-180" dirty="0"/>
              <a:t>Future</a:t>
            </a:r>
            <a:r>
              <a:rPr spc="-355" dirty="0"/>
              <a:t> </a:t>
            </a:r>
            <a:r>
              <a:rPr spc="-30" dirty="0"/>
              <a:t>of</a:t>
            </a:r>
            <a:r>
              <a:rPr spc="-355" dirty="0"/>
              <a:t> </a:t>
            </a:r>
            <a:r>
              <a:rPr spc="-120" dirty="0"/>
              <a:t>Robotics</a:t>
            </a:r>
            <a:r>
              <a:rPr spc="-355" dirty="0"/>
              <a:t> </a:t>
            </a:r>
            <a:r>
              <a:rPr spc="-35" dirty="0"/>
              <a:t>is</a:t>
            </a:r>
            <a:r>
              <a:rPr spc="-355" dirty="0"/>
              <a:t> </a:t>
            </a:r>
            <a:r>
              <a:rPr spc="-30" dirty="0"/>
              <a:t>Now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80927" y="2071052"/>
            <a:ext cx="868044" cy="1039494"/>
            <a:chOff x="4880927" y="2071052"/>
            <a:chExt cx="868044" cy="1039494"/>
          </a:xfrm>
        </p:grpSpPr>
        <p:sp>
          <p:nvSpPr>
            <p:cNvPr id="5" name="object 5"/>
            <p:cNvSpPr/>
            <p:nvPr/>
          </p:nvSpPr>
          <p:spPr>
            <a:xfrm>
              <a:off x="4886325" y="20764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86325" y="20764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50611" y="2406650"/>
            <a:ext cx="13652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459" dirty="0">
                <a:solidFill>
                  <a:srgbClr val="E5E0DF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88055" y="2230437"/>
            <a:ext cx="2015489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50" dirty="0">
                <a:solidFill>
                  <a:srgbClr val="E5E0DF"/>
                </a:solidFill>
                <a:latin typeface="Tahoma"/>
                <a:cs typeface="Tahoma"/>
              </a:rPr>
              <a:t>BLUE</a:t>
            </a:r>
            <a:r>
              <a:rPr sz="1650" b="1" spc="-165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Debuts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70" dirty="0">
                <a:solidFill>
                  <a:srgbClr val="E5E0DF"/>
                </a:solidFill>
                <a:latin typeface="Verdana"/>
                <a:cs typeface="Verdana"/>
              </a:rPr>
              <a:t>First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E5E0DF"/>
                </a:solidFill>
                <a:latin typeface="Verdana"/>
                <a:cs typeface="Verdana"/>
              </a:rPr>
              <a:t>step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E5E0DF"/>
                </a:solidFill>
                <a:latin typeface="Verdana"/>
                <a:cs typeface="Verdana"/>
              </a:rPr>
              <a:t>to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lifelike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E5E0DF"/>
                </a:solidFill>
                <a:latin typeface="Verdana"/>
                <a:cs typeface="Verdana"/>
              </a:rPr>
              <a:t>robots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80927" y="3099752"/>
            <a:ext cx="868044" cy="1039494"/>
            <a:chOff x="4880927" y="3099752"/>
            <a:chExt cx="868044" cy="1039494"/>
          </a:xfrm>
        </p:grpSpPr>
        <p:sp>
          <p:nvSpPr>
            <p:cNvPr id="10" name="object 10"/>
            <p:cNvSpPr/>
            <p:nvPr/>
          </p:nvSpPr>
          <p:spPr>
            <a:xfrm>
              <a:off x="4886325" y="31051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86325" y="31051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25160" y="3435350"/>
            <a:ext cx="18732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 dirty="0">
                <a:solidFill>
                  <a:srgbClr val="E5E0DF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88053" y="3259137"/>
            <a:ext cx="2095500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80" dirty="0">
                <a:solidFill>
                  <a:srgbClr val="E5E0DF"/>
                </a:solidFill>
                <a:latin typeface="Tahoma"/>
                <a:cs typeface="Tahoma"/>
              </a:rPr>
              <a:t>Isaac</a:t>
            </a:r>
            <a:r>
              <a:rPr sz="1650" b="1" spc="-150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20" dirty="0">
                <a:solidFill>
                  <a:srgbClr val="E5E0DF"/>
                </a:solidFill>
                <a:latin typeface="Tahoma"/>
                <a:cs typeface="Tahoma"/>
              </a:rPr>
              <a:t>GR00T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40" dirty="0">
                <a:solidFill>
                  <a:srgbClr val="E5E0DF"/>
                </a:solidFill>
                <a:latin typeface="Verdana"/>
                <a:cs typeface="Verdana"/>
              </a:rPr>
              <a:t>New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E5E0DF"/>
                </a:solidFill>
                <a:latin typeface="Verdana"/>
                <a:cs typeface="Verdana"/>
              </a:rPr>
              <a:t>humanoid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125" dirty="0">
                <a:solidFill>
                  <a:srgbClr val="E5E0DF"/>
                </a:solidFill>
                <a:latin typeface="Verdana"/>
                <a:cs typeface="Verdana"/>
              </a:rPr>
              <a:t>AI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E5E0DF"/>
                </a:solidFill>
                <a:latin typeface="Verdana"/>
                <a:cs typeface="Verdana"/>
              </a:rPr>
              <a:t>platform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880967" y="4128492"/>
            <a:ext cx="868044" cy="1039494"/>
            <a:chOff x="4880967" y="4128492"/>
            <a:chExt cx="868044" cy="1039494"/>
          </a:xfrm>
        </p:grpSpPr>
        <p:sp>
          <p:nvSpPr>
            <p:cNvPr id="15" name="object 15"/>
            <p:cNvSpPr/>
            <p:nvPr/>
          </p:nvSpPr>
          <p:spPr>
            <a:xfrm>
              <a:off x="4886325" y="4133850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86325" y="4133850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223078" y="4464050"/>
            <a:ext cx="19177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0" dirty="0">
                <a:solidFill>
                  <a:srgbClr val="E5E0DF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88055" y="4287837"/>
            <a:ext cx="2703830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35" dirty="0">
                <a:solidFill>
                  <a:srgbClr val="E5E0DF"/>
                </a:solidFill>
                <a:latin typeface="Tahoma"/>
                <a:cs typeface="Tahoma"/>
              </a:rPr>
              <a:t>Open</a:t>
            </a:r>
            <a:r>
              <a:rPr sz="1650" b="1" spc="-150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Source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Empowering</a:t>
            </a:r>
            <a:r>
              <a:rPr sz="1350" spc="-9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future</a:t>
            </a:r>
            <a:r>
              <a:rPr sz="1350" spc="-9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E5E0DF"/>
                </a:solidFill>
                <a:latin typeface="Verdana"/>
                <a:cs typeface="Verdana"/>
              </a:rPr>
              <a:t>robots</a:t>
            </a:r>
            <a:r>
              <a:rPr sz="1350" spc="-9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E5E0DF"/>
                </a:solidFill>
                <a:latin typeface="Verdana"/>
                <a:cs typeface="Verdana"/>
              </a:rPr>
              <a:t>globally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9" name="object 19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BBF671C-509A-CF0C-7AC0-EF88948586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" y="0"/>
            <a:ext cx="4632320" cy="64452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ACBC7D4-F058-1047-86B0-3C0B0B0CC3E6}"/>
              </a:ext>
            </a:extLst>
          </p:cNvPr>
          <p:cNvSpPr/>
          <p:nvPr/>
        </p:nvSpPr>
        <p:spPr>
          <a:xfrm>
            <a:off x="9580244" y="5926073"/>
            <a:ext cx="1754504" cy="4191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473200"/>
            <a:ext cx="5400040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-155" dirty="0"/>
              <a:t>Final</a:t>
            </a:r>
            <a:r>
              <a:rPr spc="-350" dirty="0"/>
              <a:t> </a:t>
            </a:r>
            <a:r>
              <a:rPr spc="-105" dirty="0"/>
              <a:t>Thoughts</a:t>
            </a:r>
            <a:r>
              <a:rPr spc="-350" dirty="0"/>
              <a:t> </a:t>
            </a:r>
            <a:r>
              <a:rPr spc="114" dirty="0"/>
              <a:t>-</a:t>
            </a:r>
            <a:r>
              <a:rPr spc="-345" dirty="0"/>
              <a:t> </a:t>
            </a:r>
            <a:r>
              <a:rPr spc="-75" dirty="0"/>
              <a:t>Why</a:t>
            </a:r>
            <a:r>
              <a:rPr spc="-350" dirty="0"/>
              <a:t> </a:t>
            </a:r>
            <a:r>
              <a:rPr spc="-50" dirty="0"/>
              <a:t>BLUE </a:t>
            </a:r>
            <a:r>
              <a:rPr spc="-10" dirty="0"/>
              <a:t>Matters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00075" y="3019424"/>
            <a:ext cx="390525" cy="381000"/>
            <a:chOff x="600075" y="3019424"/>
            <a:chExt cx="390525" cy="381000"/>
          </a:xfrm>
        </p:grpSpPr>
        <p:sp>
          <p:nvSpPr>
            <p:cNvPr id="7" name="object 7"/>
            <p:cNvSpPr/>
            <p:nvPr/>
          </p:nvSpPr>
          <p:spPr>
            <a:xfrm>
              <a:off x="604837" y="3024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7" y="357860"/>
                  </a:lnTo>
                  <a:lnTo>
                    <a:pt x="51619" y="371475"/>
                  </a:lnTo>
                  <a:lnTo>
                    <a:pt x="329380" y="371475"/>
                  </a:lnTo>
                  <a:lnTo>
                    <a:pt x="367381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4837" y="3024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29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8" y="323443"/>
                  </a:lnTo>
                  <a:lnTo>
                    <a:pt x="371688" y="346913"/>
                  </a:lnTo>
                  <a:lnTo>
                    <a:pt x="369674" y="349935"/>
                  </a:lnTo>
                  <a:lnTo>
                    <a:pt x="336529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44465" y="370408"/>
                  </a:lnTo>
                  <a:lnTo>
                    <a:pt x="40907" y="369709"/>
                  </a:lnTo>
                  <a:lnTo>
                    <a:pt x="9311" y="346913"/>
                  </a:lnTo>
                  <a:lnTo>
                    <a:pt x="7292" y="343903"/>
                  </a:lnTo>
                  <a:lnTo>
                    <a:pt x="5590" y="340728"/>
                  </a:lnTo>
                  <a:lnTo>
                    <a:pt x="4207" y="337375"/>
                  </a:lnTo>
                  <a:lnTo>
                    <a:pt x="2818" y="334022"/>
                  </a:lnTo>
                  <a:lnTo>
                    <a:pt x="1771" y="330568"/>
                  </a:lnTo>
                  <a:lnTo>
                    <a:pt x="1061" y="327012"/>
                  </a:lnTo>
                  <a:lnTo>
                    <a:pt x="351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44587" y="3001962"/>
            <a:ext cx="1896745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20" dirty="0">
                <a:solidFill>
                  <a:srgbClr val="E5E0DF"/>
                </a:solidFill>
                <a:latin typeface="Tahoma"/>
                <a:cs typeface="Tahoma"/>
              </a:rPr>
              <a:t>Tech</a:t>
            </a:r>
            <a:r>
              <a:rPr sz="1650" b="1" spc="-150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Fusion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125" dirty="0">
                <a:solidFill>
                  <a:srgbClr val="E5E0DF"/>
                </a:solidFill>
                <a:latin typeface="Verdana"/>
                <a:cs typeface="Verdana"/>
              </a:rPr>
              <a:t>AI</a:t>
            </a:r>
            <a:r>
              <a:rPr sz="1350" spc="-13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215" dirty="0">
                <a:solidFill>
                  <a:srgbClr val="E5E0DF"/>
                </a:solidFill>
                <a:latin typeface="Verdana"/>
                <a:cs typeface="Verdana"/>
              </a:rPr>
              <a:t>+</a:t>
            </a:r>
            <a:r>
              <a:rPr sz="1350" spc="-13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E5E0DF"/>
                </a:solidFill>
                <a:latin typeface="Verdana"/>
                <a:cs typeface="Verdana"/>
              </a:rPr>
              <a:t>Robotics</a:t>
            </a:r>
            <a:r>
              <a:rPr sz="1350" spc="-13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215" dirty="0">
                <a:solidFill>
                  <a:srgbClr val="E5E0DF"/>
                </a:solidFill>
                <a:latin typeface="Verdana"/>
                <a:cs typeface="Verdana"/>
              </a:rPr>
              <a:t>+</a:t>
            </a:r>
            <a:r>
              <a:rPr sz="1350" spc="-12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E5E0DF"/>
                </a:solidFill>
                <a:latin typeface="Verdana"/>
                <a:cs typeface="Verdana"/>
              </a:rPr>
              <a:t>Emotion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57600" y="3019424"/>
            <a:ext cx="390525" cy="381000"/>
            <a:chOff x="3657600" y="3019424"/>
            <a:chExt cx="390525" cy="381000"/>
          </a:xfrm>
        </p:grpSpPr>
        <p:sp>
          <p:nvSpPr>
            <p:cNvPr id="11" name="object 11"/>
            <p:cNvSpPr/>
            <p:nvPr/>
          </p:nvSpPr>
          <p:spPr>
            <a:xfrm>
              <a:off x="3662362" y="3024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5" y="357860"/>
                  </a:lnTo>
                  <a:lnTo>
                    <a:pt x="51612" y="371475"/>
                  </a:lnTo>
                  <a:lnTo>
                    <a:pt x="329387" y="371475"/>
                  </a:lnTo>
                  <a:lnTo>
                    <a:pt x="367385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62362" y="3024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37" y="1066"/>
                  </a:lnTo>
                  <a:lnTo>
                    <a:pt x="340093" y="1765"/>
                  </a:lnTo>
                  <a:lnTo>
                    <a:pt x="371690" y="2454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34" y="330568"/>
                  </a:lnTo>
                  <a:lnTo>
                    <a:pt x="356450" y="362165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202112" y="3001962"/>
            <a:ext cx="2051685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30" dirty="0">
                <a:solidFill>
                  <a:srgbClr val="E5E0DF"/>
                </a:solidFill>
                <a:latin typeface="Tahoma"/>
                <a:cs typeface="Tahoma"/>
              </a:rPr>
              <a:t>More</a:t>
            </a:r>
            <a:r>
              <a:rPr sz="1650" b="1" spc="-160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70" dirty="0">
                <a:solidFill>
                  <a:srgbClr val="E5E0DF"/>
                </a:solidFill>
                <a:latin typeface="Tahoma"/>
                <a:cs typeface="Tahoma"/>
              </a:rPr>
              <a:t>than</a:t>
            </a:r>
            <a:r>
              <a:rPr sz="1650" b="1" spc="-155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Machines</a:t>
            </a:r>
            <a:endParaRPr sz="1650">
              <a:latin typeface="Tahoma"/>
              <a:cs typeface="Tahoma"/>
            </a:endParaRPr>
          </a:p>
          <a:p>
            <a:pPr marL="12700" marR="307340">
              <a:lnSpc>
                <a:spcPct val="129600"/>
              </a:lnSpc>
              <a:spcBef>
                <a:spcPts val="615"/>
              </a:spcBef>
            </a:pPr>
            <a:r>
              <a:rPr sz="1350" spc="-50" dirty="0">
                <a:solidFill>
                  <a:srgbClr val="E5E0DF"/>
                </a:solidFill>
                <a:latin typeface="Verdana"/>
                <a:cs typeface="Verdana"/>
              </a:rPr>
              <a:t>BLUE</a:t>
            </a:r>
            <a:r>
              <a:rPr sz="1350" spc="-12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E5E0DF"/>
                </a:solidFill>
                <a:latin typeface="Verdana"/>
                <a:cs typeface="Verdana"/>
              </a:rPr>
              <a:t>is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E5E0DF"/>
                </a:solidFill>
                <a:latin typeface="Verdana"/>
                <a:cs typeface="Verdana"/>
              </a:rPr>
              <a:t>character</a:t>
            </a:r>
            <a:r>
              <a:rPr sz="1350" spc="-114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E5E0DF"/>
                </a:solidFill>
                <a:latin typeface="Verdana"/>
                <a:cs typeface="Verdana"/>
              </a:rPr>
              <a:t>and </a:t>
            </a:r>
            <a:r>
              <a:rPr sz="1350" spc="-10" dirty="0">
                <a:solidFill>
                  <a:srgbClr val="E5E0DF"/>
                </a:solidFill>
                <a:latin typeface="Verdana"/>
                <a:cs typeface="Verdana"/>
              </a:rPr>
              <a:t>companion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0075" y="4295775"/>
            <a:ext cx="390525" cy="390525"/>
            <a:chOff x="600075" y="4295775"/>
            <a:chExt cx="390525" cy="390525"/>
          </a:xfrm>
        </p:grpSpPr>
        <p:sp>
          <p:nvSpPr>
            <p:cNvPr id="15" name="object 15"/>
            <p:cNvSpPr/>
            <p:nvPr/>
          </p:nvSpPr>
          <p:spPr>
            <a:xfrm>
              <a:off x="604837" y="43005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7" y="367385"/>
                  </a:lnTo>
                  <a:lnTo>
                    <a:pt x="51619" y="381000"/>
                  </a:lnTo>
                  <a:lnTo>
                    <a:pt x="329380" y="381000"/>
                  </a:lnTo>
                  <a:lnTo>
                    <a:pt x="367381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4837" y="43005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29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8" y="332968"/>
                  </a:lnTo>
                  <a:lnTo>
                    <a:pt x="371688" y="356438"/>
                  </a:lnTo>
                  <a:lnTo>
                    <a:pt x="369674" y="359460"/>
                  </a:lnTo>
                  <a:lnTo>
                    <a:pt x="336529" y="379933"/>
                  </a:lnTo>
                  <a:lnTo>
                    <a:pt x="332973" y="380644"/>
                  </a:lnTo>
                  <a:lnTo>
                    <a:pt x="329380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9" y="381000"/>
                  </a:lnTo>
                  <a:lnTo>
                    <a:pt x="48026" y="380644"/>
                  </a:lnTo>
                  <a:lnTo>
                    <a:pt x="44465" y="379933"/>
                  </a:lnTo>
                  <a:lnTo>
                    <a:pt x="40907" y="379234"/>
                  </a:lnTo>
                  <a:lnTo>
                    <a:pt x="9311" y="356438"/>
                  </a:lnTo>
                  <a:lnTo>
                    <a:pt x="7292" y="353428"/>
                  </a:lnTo>
                  <a:lnTo>
                    <a:pt x="5590" y="350253"/>
                  </a:lnTo>
                  <a:lnTo>
                    <a:pt x="4207" y="346900"/>
                  </a:lnTo>
                  <a:lnTo>
                    <a:pt x="2818" y="343547"/>
                  </a:lnTo>
                  <a:lnTo>
                    <a:pt x="1771" y="340093"/>
                  </a:lnTo>
                  <a:lnTo>
                    <a:pt x="1061" y="336537"/>
                  </a:lnTo>
                  <a:lnTo>
                    <a:pt x="351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44587" y="4278312"/>
            <a:ext cx="2298700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Sci-</a:t>
            </a:r>
            <a:r>
              <a:rPr sz="1650" b="1" spc="-50" dirty="0">
                <a:solidFill>
                  <a:srgbClr val="E5E0DF"/>
                </a:solidFill>
                <a:latin typeface="Tahoma"/>
                <a:cs typeface="Tahoma"/>
              </a:rPr>
              <a:t>Fi</a:t>
            </a:r>
            <a:r>
              <a:rPr sz="1650" b="1" spc="-155" dirty="0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5E0DF"/>
                </a:solidFill>
                <a:latin typeface="Tahoma"/>
                <a:cs typeface="Tahoma"/>
              </a:rPr>
              <a:t>Reality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85" dirty="0">
                <a:solidFill>
                  <a:srgbClr val="E5E0DF"/>
                </a:solidFill>
                <a:latin typeface="Verdana"/>
                <a:cs typeface="Verdana"/>
              </a:rPr>
              <a:t>Turning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dreams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E5E0DF"/>
                </a:solidFill>
                <a:latin typeface="Verdana"/>
                <a:cs typeface="Verdana"/>
              </a:rPr>
              <a:t>into</a:t>
            </a:r>
            <a:r>
              <a:rPr sz="1350" spc="-110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E5E0DF"/>
                </a:solidFill>
                <a:latin typeface="Verdana"/>
                <a:cs typeface="Verdana"/>
              </a:rPr>
              <a:t>real</a:t>
            </a:r>
            <a:r>
              <a:rPr sz="1350" spc="-105" dirty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Verdana"/>
                <a:cs typeface="Verdana"/>
              </a:rPr>
              <a:t>tech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BE8DFAF-25B9-53B6-8303-CCDE5F8714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6352"/>
            <a:ext cx="4648200" cy="6445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DABFB-9EBB-DDC7-8A44-4D4C394B4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1473200"/>
            <a:ext cx="10255250" cy="515526"/>
          </a:xfrm>
        </p:spPr>
        <p:txBody>
          <a:bodyPr/>
          <a:lstStyle/>
          <a:p>
            <a:r>
              <a:rPr lang="en-US" dirty="0"/>
              <a:t>CONCLUSION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E20DB-6F06-181F-F00C-84588C5A4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4" y="2525711"/>
            <a:ext cx="10614025" cy="2954655"/>
          </a:xfrm>
        </p:spPr>
        <p:txBody>
          <a:bodyPr/>
          <a:lstStyle/>
          <a:p>
            <a:r>
              <a:rPr lang="en-US" sz="2400" b="0" dirty="0"/>
              <a:t>BLUE is the New Frontier BLUE represents a historic leap in human-robot interaction Merges storytelling, cutting-edge AI, and robotics into a living character Proves that emotional intelligence in machines is achievable A glimpse into the future where robots are not tools, but friends, helpers, and companions Just like C-3PO or BB-8 in Star Wars, BLUE may become a beloved figure in our everyday lives With BLUE, the boundaries between imagination and reality are fading It’s not just technology—it’s storytelling brought to life!</a:t>
            </a:r>
            <a:endParaRPr lang="en-IN" sz="2400" b="0" dirty="0"/>
          </a:p>
        </p:txBody>
      </p:sp>
    </p:spTree>
    <p:extLst>
      <p:ext uri="{BB962C8B-B14F-4D97-AF65-F5344CB8AC3E}">
        <p14:creationId xmlns:p14="http://schemas.microsoft.com/office/powerpoint/2010/main" val="1348115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969F26-8AD5-4850-310C-158E51673F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79425"/>
            <a:ext cx="101346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76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492</Words>
  <Application>Microsoft Office PowerPoint</Application>
  <PresentationFormat>Custom</PresentationFormat>
  <Paragraphs>106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Tahoma</vt:lpstr>
      <vt:lpstr>Verdana</vt:lpstr>
      <vt:lpstr>Office Theme</vt:lpstr>
      <vt:lpstr>NVIDIA’S BLUE</vt:lpstr>
      <vt:lpstr>PowerPoint Presentation</vt:lpstr>
      <vt:lpstr>NVIDIA BLUE - The Future of Robots is Here!</vt:lpstr>
      <vt:lpstr>Welcome to the World of BLUE!</vt:lpstr>
      <vt:lpstr>Who Made BLUE and Why?</vt:lpstr>
      <vt:lpstr>Who is BLUE?</vt:lpstr>
      <vt:lpstr>How BLUE Works (The Tech Explained)</vt:lpstr>
      <vt:lpstr>The Star Wars Connection</vt:lpstr>
      <vt:lpstr>Real-World Magic</vt:lpstr>
      <vt:lpstr>Amazing Facts About BLUE</vt:lpstr>
      <vt:lpstr>The Future of Robotics is Now</vt:lpstr>
      <vt:lpstr>Final Thoughts - Why BLUE Matters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GAURAV TRIPATHI</dc:creator>
  <cp:lastModifiedBy>GAURAV TRIPATHI</cp:lastModifiedBy>
  <cp:revision>2</cp:revision>
  <dcterms:created xsi:type="dcterms:W3CDTF">2025-04-27T03:59:27Z</dcterms:created>
  <dcterms:modified xsi:type="dcterms:W3CDTF">2025-04-27T19:14:31Z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2025-04-22T00:00:00Z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2025-04-27T00:00:00Z</vt:filetime>
  </property>
  <property fmtid="{D5CDD505-2E9C-101B-9397-08002B2CF9AE}" pid="5" name="Producer">
    <vt:lpwstr>GPL Ghostscript 9.56.1</vt:lpwstr>
  </property>
</Properties>
</file>