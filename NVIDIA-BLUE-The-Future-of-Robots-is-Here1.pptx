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6445250"/>
  <p:notesSz cx="11430000" cy="64452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2624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473200"/>
            <a:ext cx="10255250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375" y="2525712"/>
            <a:ext cx="5923280" cy="3179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2225675"/>
            <a:ext cx="5605145" cy="11112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95"/>
              </a:spcBef>
            </a:pPr>
            <a:r>
              <a:rPr dirty="0" spc="-260"/>
              <a:t>NVIDIA</a:t>
            </a:r>
            <a:r>
              <a:rPr dirty="0" spc="-365"/>
              <a:t> </a:t>
            </a:r>
            <a:r>
              <a:rPr dirty="0" spc="-120"/>
              <a:t>BLUE</a:t>
            </a:r>
            <a:r>
              <a:rPr dirty="0" spc="-365"/>
              <a:t> </a:t>
            </a:r>
            <a:r>
              <a:rPr dirty="0" spc="114"/>
              <a:t>-</a:t>
            </a:r>
            <a:r>
              <a:rPr dirty="0" spc="-360"/>
              <a:t> </a:t>
            </a:r>
            <a:r>
              <a:rPr dirty="0" spc="-30"/>
              <a:t>The</a:t>
            </a:r>
            <a:r>
              <a:rPr dirty="0" spc="-365"/>
              <a:t> </a:t>
            </a:r>
            <a:r>
              <a:rPr dirty="0" spc="-180"/>
              <a:t>Future</a:t>
            </a:r>
            <a:r>
              <a:rPr dirty="0" spc="-365"/>
              <a:t> </a:t>
            </a:r>
            <a:r>
              <a:rPr dirty="0" spc="-25"/>
              <a:t>of </a:t>
            </a:r>
            <a:r>
              <a:rPr dirty="0" spc="-145"/>
              <a:t>Robots</a:t>
            </a:r>
            <a:r>
              <a:rPr dirty="0" spc="-360"/>
              <a:t> </a:t>
            </a:r>
            <a:r>
              <a:rPr dirty="0" spc="-35"/>
              <a:t>is</a:t>
            </a:r>
            <a:r>
              <a:rPr dirty="0" spc="-355"/>
              <a:t> </a:t>
            </a:r>
            <a:r>
              <a:rPr dirty="0" spc="-20"/>
              <a:t>Here!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873625" y="3545840"/>
            <a:ext cx="546798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Explore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the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next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generation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5E0DF"/>
                </a:solidFill>
                <a:latin typeface="Verdana"/>
                <a:cs typeface="Verdana"/>
              </a:rPr>
              <a:t>of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lifelike</a:t>
            </a:r>
            <a:r>
              <a:rPr dirty="0" sz="1350" spc="-10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blending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30">
                <a:solidFill>
                  <a:srgbClr val="E5E0DF"/>
                </a:solidFill>
                <a:latin typeface="Verdana"/>
                <a:cs typeface="Verdana"/>
              </a:rPr>
              <a:t>AI,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emotion,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iconic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storytelling.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5" name="object 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4298950" marR="5080">
              <a:lnSpc>
                <a:spcPts val="4200"/>
              </a:lnSpc>
              <a:spcBef>
                <a:spcPts val="50"/>
              </a:spcBef>
            </a:pPr>
            <a:r>
              <a:rPr dirty="0" spc="-114"/>
              <a:t>Welcome</a:t>
            </a:r>
            <a:r>
              <a:rPr dirty="0" spc="-350"/>
              <a:t> </a:t>
            </a:r>
            <a:r>
              <a:rPr dirty="0" spc="-150"/>
              <a:t>to</a:t>
            </a:r>
            <a:r>
              <a:rPr dirty="0" spc="-350"/>
              <a:t> </a:t>
            </a:r>
            <a:r>
              <a:rPr dirty="0" spc="-140"/>
              <a:t>the</a:t>
            </a:r>
            <a:r>
              <a:rPr dirty="0" spc="-350"/>
              <a:t> </a:t>
            </a:r>
            <a:r>
              <a:rPr dirty="0" spc="-145"/>
              <a:t>World</a:t>
            </a:r>
            <a:r>
              <a:rPr dirty="0" spc="-350"/>
              <a:t> </a:t>
            </a:r>
            <a:r>
              <a:rPr dirty="0" spc="-25"/>
              <a:t>of </a:t>
            </a:r>
            <a:r>
              <a:rPr dirty="0" spc="-10"/>
              <a:t>BLUE!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3019424"/>
            <a:ext cx="390525" cy="381000"/>
            <a:chOff x="4886325" y="3019424"/>
            <a:chExt cx="390525" cy="381000"/>
          </a:xfrm>
        </p:grpSpPr>
        <p:sp>
          <p:nvSpPr>
            <p:cNvPr id="5" name="object 5" descr=""/>
            <p:cNvSpPr/>
            <p:nvPr/>
          </p:nvSpPr>
          <p:spPr>
            <a:xfrm>
              <a:off x="489108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9108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430837" y="3001962"/>
            <a:ext cx="233426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0" b="1">
                <a:solidFill>
                  <a:srgbClr val="E5E0DF"/>
                </a:solidFill>
                <a:latin typeface="Tahoma"/>
                <a:cs typeface="Tahoma"/>
              </a:rPr>
              <a:t>Introducing 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BLUE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Collaboration: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NVIDIA,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Disney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Research,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Google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DeepMind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943850" y="3019424"/>
            <a:ext cx="390525" cy="381000"/>
            <a:chOff x="7943850" y="3019424"/>
            <a:chExt cx="390525" cy="381000"/>
          </a:xfrm>
        </p:grpSpPr>
        <p:sp>
          <p:nvSpPr>
            <p:cNvPr id="9" name="object 9" descr=""/>
            <p:cNvSpPr/>
            <p:nvPr/>
          </p:nvSpPr>
          <p:spPr>
            <a:xfrm>
              <a:off x="794861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4861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64820" y="355295"/>
                  </a:lnTo>
                  <a:lnTo>
                    <a:pt x="362254" y="357860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16179" y="355295"/>
                  </a:lnTo>
                  <a:lnTo>
                    <a:pt x="13614" y="352729"/>
                  </a:lnTo>
                  <a:lnTo>
                    <a:pt x="11328" y="349935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5588" y="340728"/>
                  </a:lnTo>
                  <a:lnTo>
                    <a:pt x="4203" y="337375"/>
                  </a:lnTo>
                  <a:lnTo>
                    <a:pt x="2819" y="334022"/>
                  </a:lnTo>
                  <a:lnTo>
                    <a:pt x="1765" y="330568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488362" y="3001962"/>
            <a:ext cx="2122170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E5E0DF"/>
                </a:solidFill>
                <a:latin typeface="Tahoma"/>
                <a:cs typeface="Tahoma"/>
              </a:rPr>
              <a:t>First</a:t>
            </a:r>
            <a:r>
              <a:rPr dirty="0" sz="1650" spc="-14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Debut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29600"/>
              </a:lnSpc>
              <a:spcBef>
                <a:spcPts val="615"/>
              </a:spcBef>
            </a:pP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Showcased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5E0DF"/>
                </a:solidFill>
                <a:latin typeface="Verdana"/>
                <a:cs typeface="Verdana"/>
              </a:rPr>
              <a:t>at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NVIDIA </a:t>
            </a:r>
            <a:r>
              <a:rPr dirty="0" sz="1350" spc="-25">
                <a:solidFill>
                  <a:srgbClr val="E5E0DF"/>
                </a:solidFill>
                <a:latin typeface="Verdana"/>
                <a:cs typeface="Verdana"/>
              </a:rPr>
              <a:t>GTC </a:t>
            </a:r>
            <a:r>
              <a:rPr dirty="0" sz="1350" spc="-20">
                <a:solidFill>
                  <a:srgbClr val="E5E0DF"/>
                </a:solidFill>
                <a:latin typeface="Verdana"/>
                <a:cs typeface="Verdana"/>
              </a:rPr>
              <a:t>2025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886325" y="4295775"/>
            <a:ext cx="390525" cy="390525"/>
            <a:chOff x="4886325" y="4295775"/>
            <a:chExt cx="390525" cy="390525"/>
          </a:xfrm>
        </p:grpSpPr>
        <p:sp>
          <p:nvSpPr>
            <p:cNvPr id="13" name="object 13" descr=""/>
            <p:cNvSpPr/>
            <p:nvPr/>
          </p:nvSpPr>
          <p:spPr>
            <a:xfrm>
              <a:off x="489108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9108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30837" y="4278312"/>
            <a:ext cx="257810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E5E0DF"/>
                </a:solidFill>
                <a:latin typeface="Tahoma"/>
                <a:cs typeface="Tahoma"/>
              </a:rPr>
              <a:t>Next-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Gen</a:t>
            </a:r>
            <a:r>
              <a:rPr dirty="0" sz="1650" spc="-13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Droid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00">
                <a:solidFill>
                  <a:srgbClr val="E5E0DF"/>
                </a:solidFill>
                <a:latin typeface="Verdana"/>
                <a:cs typeface="Verdana"/>
              </a:rPr>
              <a:t>Emotion,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 expression,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intelligence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673100"/>
            <a:ext cx="53981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0"/>
              <a:t>Who</a:t>
            </a:r>
            <a:r>
              <a:rPr dirty="0" spc="-355"/>
              <a:t> </a:t>
            </a:r>
            <a:r>
              <a:rPr dirty="0" spc="-60"/>
              <a:t>Made</a:t>
            </a:r>
            <a:r>
              <a:rPr dirty="0" spc="-355"/>
              <a:t> </a:t>
            </a:r>
            <a:r>
              <a:rPr dirty="0" spc="-120"/>
              <a:t>BLUE</a:t>
            </a:r>
            <a:r>
              <a:rPr dirty="0" spc="-355"/>
              <a:t> </a:t>
            </a:r>
            <a:r>
              <a:rPr dirty="0" spc="-120"/>
              <a:t>and</a:t>
            </a:r>
            <a:r>
              <a:rPr dirty="0" spc="-355"/>
              <a:t> </a:t>
            </a:r>
            <a:r>
              <a:rPr dirty="0" spc="-20"/>
              <a:t>Why?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1639887"/>
            <a:ext cx="1871980" cy="693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NVIDIA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AI 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leadership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68612" y="1639887"/>
            <a:ext cx="2646680" cy="6934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FFFFFF"/>
                </a:solidFill>
                <a:latin typeface="Tahoma"/>
                <a:cs typeface="Tahoma"/>
              </a:rPr>
              <a:t>Disney</a:t>
            </a:r>
            <a:r>
              <a:rPr dirty="0" sz="165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Research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Storytelling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animation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29362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Google</a:t>
            </a:r>
            <a:r>
              <a:rPr dirty="0" spc="-140"/>
              <a:t> </a:t>
            </a:r>
            <a:r>
              <a:rPr dirty="0" spc="-10"/>
              <a:t>DeepMind</a:t>
            </a:r>
          </a:p>
          <a:p>
            <a:pPr marL="2293620">
              <a:lnSpc>
                <a:spcPct val="100000"/>
              </a:lnSpc>
              <a:spcBef>
                <a:spcPts val="1620"/>
              </a:spcBef>
            </a:pPr>
            <a:r>
              <a:rPr dirty="0" sz="1350" spc="-50" b="0">
                <a:solidFill>
                  <a:srgbClr val="E5E0DF"/>
                </a:solidFill>
                <a:latin typeface="Verdana"/>
                <a:cs typeface="Verdana"/>
              </a:rPr>
              <a:t>Advanced</a:t>
            </a:r>
            <a:r>
              <a:rPr dirty="0" sz="1350" spc="-11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machine</a:t>
            </a:r>
            <a:r>
              <a:rPr dirty="0" sz="1350" spc="-105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E5E0DF"/>
                </a:solidFill>
                <a:latin typeface="Verdana"/>
                <a:cs typeface="Verdana"/>
              </a:rPr>
              <a:t>learning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50">
              <a:latin typeface="Verdana"/>
              <a:cs typeface="Verdana"/>
            </a:endParaRPr>
          </a:p>
          <a:p>
            <a:pPr marL="2293620">
              <a:lnSpc>
                <a:spcPct val="100000"/>
              </a:lnSpc>
            </a:pPr>
            <a:r>
              <a:rPr dirty="0" spc="-20"/>
              <a:t>Goal</a:t>
            </a:r>
          </a:p>
          <a:p>
            <a:pPr marL="2293620" marR="1438275">
              <a:lnSpc>
                <a:spcPts val="3379"/>
              </a:lnSpc>
              <a:spcBef>
                <a:spcPts val="265"/>
              </a:spcBef>
            </a:pP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dirty="0" sz="1350" spc="-60" b="0">
                <a:solidFill>
                  <a:srgbClr val="E5E0DF"/>
                </a:solidFill>
                <a:latin typeface="Verdana"/>
                <a:cs typeface="Verdana"/>
              </a:rPr>
              <a:t>life</a:t>
            </a:r>
            <a:r>
              <a:rPr dirty="0" sz="1350" spc="-9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E5E0DF"/>
                </a:solidFill>
                <a:latin typeface="Verdana"/>
                <a:cs typeface="Verdana"/>
              </a:rPr>
              <a:t>expressive</a:t>
            </a:r>
            <a:r>
              <a:rPr dirty="0" sz="1350" spc="-9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E5E0DF"/>
                </a:solidFill>
                <a:latin typeface="Verdana"/>
                <a:cs typeface="Verdana"/>
              </a:rPr>
              <a:t>robots </a:t>
            </a:r>
            <a:r>
              <a:rPr dirty="0" sz="1350" spc="-90" b="0">
                <a:solidFill>
                  <a:srgbClr val="E5E0DF"/>
                </a:solidFill>
                <a:latin typeface="Verdana"/>
                <a:cs typeface="Verdana"/>
              </a:rPr>
              <a:t>Inspired</a:t>
            </a:r>
            <a:r>
              <a:rPr dirty="0" sz="1350" spc="-12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E5E0DF"/>
                </a:solidFill>
                <a:latin typeface="Verdana"/>
                <a:cs typeface="Verdana"/>
              </a:rPr>
              <a:t>by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Star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E5E0DF"/>
                </a:solidFill>
                <a:latin typeface="Verdana"/>
                <a:cs typeface="Verdana"/>
              </a:rPr>
              <a:t>Wars</a:t>
            </a:r>
            <a:r>
              <a:rPr dirty="0" sz="1350" spc="-12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E5E0DF"/>
                </a:solidFill>
                <a:latin typeface="Verdana"/>
                <a:cs typeface="Verdana"/>
              </a:rPr>
              <a:t>magic</a:t>
            </a:r>
            <a:endParaRPr sz="13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350">
              <a:latin typeface="Verdana"/>
              <a:cs typeface="Verdana"/>
            </a:endParaRPr>
          </a:p>
          <a:p>
            <a:pPr marL="12700" marR="5080">
              <a:lnSpc>
                <a:spcPct val="131900"/>
              </a:lnSpc>
              <a:spcBef>
                <a:spcPts val="5"/>
              </a:spcBef>
            </a:pPr>
            <a:r>
              <a:rPr dirty="0" sz="1350" spc="-40" b="0">
                <a:solidFill>
                  <a:srgbClr val="E5E0DF"/>
                </a:solidFill>
                <a:latin typeface="Verdana"/>
                <a:cs typeface="Verdana"/>
              </a:rPr>
              <a:t>The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partnership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E5E0DF"/>
                </a:solidFill>
                <a:latin typeface="Verdana"/>
                <a:cs typeface="Verdana"/>
              </a:rPr>
              <a:t>combines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cutting-</a:t>
            </a:r>
            <a:r>
              <a:rPr dirty="0" sz="1350" spc="-45" b="0">
                <a:solidFill>
                  <a:srgbClr val="E5E0DF"/>
                </a:solidFill>
                <a:latin typeface="Verdana"/>
                <a:cs typeface="Verdana"/>
              </a:rPr>
              <a:t>edge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30" b="0">
                <a:solidFill>
                  <a:srgbClr val="E5E0DF"/>
                </a:solidFill>
                <a:latin typeface="Verdana"/>
                <a:cs typeface="Verdana"/>
              </a:rPr>
              <a:t>AI,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 b="0">
                <a:solidFill>
                  <a:srgbClr val="E5E0DF"/>
                </a:solidFill>
                <a:latin typeface="Verdana"/>
                <a:cs typeface="Verdana"/>
              </a:rPr>
              <a:t>expertise,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E5E0DF"/>
                </a:solidFill>
                <a:latin typeface="Verdana"/>
                <a:cs typeface="Verdana"/>
              </a:rPr>
              <a:t>creative </a:t>
            </a:r>
            <a:r>
              <a:rPr dirty="0" sz="1350" spc="-80" b="0">
                <a:solidFill>
                  <a:srgbClr val="E5E0DF"/>
                </a:solidFill>
                <a:latin typeface="Verdana"/>
                <a:cs typeface="Verdana"/>
              </a:rPr>
              <a:t>storytelling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 b="0">
                <a:solidFill>
                  <a:srgbClr val="E5E0DF"/>
                </a:solidFill>
                <a:latin typeface="Verdana"/>
                <a:cs typeface="Verdana"/>
              </a:rPr>
              <a:t>bring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 b="0">
                <a:solidFill>
                  <a:srgbClr val="E5E0DF"/>
                </a:solidFill>
                <a:latin typeface="Verdana"/>
                <a:cs typeface="Verdana"/>
              </a:rPr>
              <a:t>BLUE</a:t>
            </a:r>
            <a:r>
              <a:rPr dirty="0" sz="1350" spc="-11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E5E0DF"/>
                </a:solidFill>
                <a:latin typeface="Verdana"/>
                <a:cs typeface="Verdana"/>
              </a:rPr>
              <a:t>life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 b="0">
                <a:solidFill>
                  <a:srgbClr val="E5E0DF"/>
                </a:solidFill>
                <a:latin typeface="Verdana"/>
                <a:cs typeface="Verdana"/>
              </a:rPr>
              <a:t>as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 b="0">
                <a:solidFill>
                  <a:srgbClr val="E5E0DF"/>
                </a:solidFill>
                <a:latin typeface="Verdana"/>
                <a:cs typeface="Verdana"/>
              </a:rPr>
              <a:t>a</a:t>
            </a:r>
            <a:r>
              <a:rPr dirty="0" sz="1350" spc="-11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 b="0">
                <a:solidFill>
                  <a:srgbClr val="E5E0DF"/>
                </a:solidFill>
                <a:latin typeface="Verdana"/>
                <a:cs typeface="Verdana"/>
              </a:rPr>
              <a:t>breakthrough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in</a:t>
            </a:r>
            <a:r>
              <a:rPr dirty="0" sz="1350" spc="-114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 b="0">
                <a:solidFill>
                  <a:srgbClr val="E5E0DF"/>
                </a:solidFill>
                <a:latin typeface="Verdana"/>
                <a:cs typeface="Verdana"/>
              </a:rPr>
              <a:t>emotionally</a:t>
            </a:r>
            <a:r>
              <a:rPr dirty="0" sz="1350" spc="-11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35" b="0">
                <a:solidFill>
                  <a:srgbClr val="E5E0DF"/>
                </a:solidFill>
                <a:latin typeface="Verdana"/>
                <a:cs typeface="Verdana"/>
              </a:rPr>
              <a:t>expressive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 b="0">
                <a:solidFill>
                  <a:srgbClr val="E5E0DF"/>
                </a:solidFill>
                <a:latin typeface="Verdana"/>
                <a:cs typeface="Verdana"/>
              </a:rPr>
              <a:t>designed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 b="0">
                <a:solidFill>
                  <a:srgbClr val="E5E0DF"/>
                </a:solidFill>
                <a:latin typeface="Verdana"/>
                <a:cs typeface="Verdana"/>
              </a:rPr>
              <a:t>for</a:t>
            </a:r>
            <a:r>
              <a:rPr dirty="0" sz="1350" spc="-100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 b="0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dirty="0" sz="1350" spc="-65" b="0">
                <a:solidFill>
                  <a:srgbClr val="E5E0DF"/>
                </a:solidFill>
                <a:latin typeface="Verdana"/>
                <a:cs typeface="Verdana"/>
              </a:rPr>
              <a:t>world</a:t>
            </a:r>
            <a:r>
              <a:rPr dirty="0" sz="1350" spc="-95" b="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 b="0">
                <a:solidFill>
                  <a:srgbClr val="E5E0DF"/>
                </a:solidFill>
                <a:latin typeface="Verdana"/>
                <a:cs typeface="Verdana"/>
              </a:rPr>
              <a:t>interaction.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530225"/>
            <a:ext cx="27578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0"/>
              <a:t>Who</a:t>
            </a:r>
            <a:r>
              <a:rPr dirty="0" spc="-365"/>
              <a:t> </a:t>
            </a:r>
            <a:r>
              <a:rPr dirty="0" spc="-35"/>
              <a:t>is</a:t>
            </a:r>
            <a:r>
              <a:rPr dirty="0" spc="-360"/>
              <a:t> </a:t>
            </a:r>
            <a:r>
              <a:rPr dirty="0" spc="-85"/>
              <a:t>BLUE?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1343024"/>
            <a:ext cx="5943600" cy="1009650"/>
            <a:chOff x="600075" y="1343024"/>
            <a:chExt cx="5943600" cy="1009650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7" y="986510"/>
                  </a:lnTo>
                  <a:lnTo>
                    <a:pt x="51619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59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9" y="1000125"/>
                  </a:lnTo>
                  <a:lnTo>
                    <a:pt x="48026" y="999769"/>
                  </a:lnTo>
                  <a:lnTo>
                    <a:pt x="44465" y="999058"/>
                  </a:lnTo>
                  <a:lnTo>
                    <a:pt x="40907" y="998359"/>
                  </a:lnTo>
                  <a:lnTo>
                    <a:pt x="9311" y="975563"/>
                  </a:lnTo>
                  <a:lnTo>
                    <a:pt x="7292" y="972553"/>
                  </a:lnTo>
                  <a:lnTo>
                    <a:pt x="5590" y="969378"/>
                  </a:lnTo>
                  <a:lnTo>
                    <a:pt x="4207" y="966025"/>
                  </a:lnTo>
                  <a:lnTo>
                    <a:pt x="2818" y="962672"/>
                  </a:lnTo>
                  <a:lnTo>
                    <a:pt x="1771" y="959218"/>
                  </a:lnTo>
                  <a:lnTo>
                    <a:pt x="1061" y="955662"/>
                  </a:lnTo>
                  <a:lnTo>
                    <a:pt x="351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68350" y="1506537"/>
            <a:ext cx="267906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5E0DF"/>
                </a:solidFill>
                <a:latin typeface="Tahoma"/>
                <a:cs typeface="Tahoma"/>
              </a:rPr>
              <a:t>Movie-</a:t>
            </a:r>
            <a:r>
              <a:rPr dirty="0" sz="1650" spc="-70" b="1">
                <a:solidFill>
                  <a:srgbClr val="E5E0DF"/>
                </a:solidFill>
                <a:latin typeface="Tahoma"/>
                <a:cs typeface="Tahoma"/>
              </a:rPr>
              <a:t>Like</a:t>
            </a:r>
            <a:r>
              <a:rPr dirty="0" sz="1650" spc="-11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Droid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Expressive,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emotional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 movements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600075" y="2524124"/>
            <a:ext cx="5943600" cy="1009650"/>
            <a:chOff x="600075" y="2524124"/>
            <a:chExt cx="5943600" cy="1009650"/>
          </a:xfrm>
        </p:grpSpPr>
        <p:sp>
          <p:nvSpPr>
            <p:cNvPr id="11" name="object 11" descr=""/>
            <p:cNvSpPr/>
            <p:nvPr/>
          </p:nvSpPr>
          <p:spPr>
            <a:xfrm>
              <a:off x="60483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7" y="986510"/>
                  </a:lnTo>
                  <a:lnTo>
                    <a:pt x="51619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0483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9" y="1000125"/>
                  </a:lnTo>
                  <a:lnTo>
                    <a:pt x="48026" y="999769"/>
                  </a:lnTo>
                  <a:lnTo>
                    <a:pt x="44465" y="999058"/>
                  </a:lnTo>
                  <a:lnTo>
                    <a:pt x="40907" y="998359"/>
                  </a:lnTo>
                  <a:lnTo>
                    <a:pt x="9311" y="975563"/>
                  </a:lnTo>
                  <a:lnTo>
                    <a:pt x="7292" y="972553"/>
                  </a:lnTo>
                  <a:lnTo>
                    <a:pt x="5590" y="969378"/>
                  </a:lnTo>
                  <a:lnTo>
                    <a:pt x="4207" y="966025"/>
                  </a:lnTo>
                  <a:lnTo>
                    <a:pt x="2818" y="962672"/>
                  </a:lnTo>
                  <a:lnTo>
                    <a:pt x="1771" y="959218"/>
                  </a:lnTo>
                  <a:lnTo>
                    <a:pt x="1061" y="955662"/>
                  </a:lnTo>
                  <a:lnTo>
                    <a:pt x="351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68350" y="2687637"/>
            <a:ext cx="221107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0" b="1">
                <a:solidFill>
                  <a:srgbClr val="E5E0DF"/>
                </a:solidFill>
                <a:latin typeface="Tahoma"/>
                <a:cs typeface="Tahoma"/>
              </a:rPr>
              <a:t>Star</a:t>
            </a:r>
            <a:r>
              <a:rPr dirty="0" sz="1650" spc="-16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50" b="1">
                <a:solidFill>
                  <a:srgbClr val="E5E0DF"/>
                </a:solidFill>
                <a:latin typeface="Tahoma"/>
                <a:cs typeface="Tahoma"/>
              </a:rPr>
              <a:t>Wars</a:t>
            </a:r>
            <a:r>
              <a:rPr dirty="0" sz="1650" spc="-16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Inspiration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Resembles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R2-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D2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BB-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8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0075" y="3705225"/>
            <a:ext cx="5943600" cy="1000125"/>
            <a:chOff x="600075" y="3705225"/>
            <a:chExt cx="5943600" cy="1000125"/>
          </a:xfrm>
        </p:grpSpPr>
        <p:sp>
          <p:nvSpPr>
            <p:cNvPr id="15" name="object 15" descr=""/>
            <p:cNvSpPr/>
            <p:nvPr/>
          </p:nvSpPr>
          <p:spPr>
            <a:xfrm>
              <a:off x="60483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35355"/>
                  </a:lnTo>
                  <a:lnTo>
                    <a:pt x="0" y="938987"/>
                  </a:lnTo>
                  <a:lnTo>
                    <a:pt x="18747" y="976985"/>
                  </a:lnTo>
                  <a:lnTo>
                    <a:pt x="51619" y="990600"/>
                  </a:lnTo>
                  <a:lnTo>
                    <a:pt x="5882462" y="990600"/>
                  </a:lnTo>
                  <a:lnTo>
                    <a:pt x="5920460" y="971854"/>
                  </a:lnTo>
                  <a:lnTo>
                    <a:pt x="5934075" y="9389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483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9353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35355"/>
                  </a:lnTo>
                  <a:lnTo>
                    <a:pt x="5934075" y="938987"/>
                  </a:lnTo>
                  <a:lnTo>
                    <a:pt x="5933719" y="942568"/>
                  </a:lnTo>
                  <a:lnTo>
                    <a:pt x="5933008" y="946137"/>
                  </a:lnTo>
                  <a:lnTo>
                    <a:pt x="5932309" y="949693"/>
                  </a:lnTo>
                  <a:lnTo>
                    <a:pt x="5917895" y="974420"/>
                  </a:lnTo>
                  <a:lnTo>
                    <a:pt x="5915329" y="976985"/>
                  </a:lnTo>
                  <a:lnTo>
                    <a:pt x="5889599" y="989533"/>
                  </a:lnTo>
                  <a:lnTo>
                    <a:pt x="5886043" y="990244"/>
                  </a:lnTo>
                  <a:lnTo>
                    <a:pt x="5882462" y="990600"/>
                  </a:lnTo>
                  <a:lnTo>
                    <a:pt x="5878830" y="990600"/>
                  </a:lnTo>
                  <a:lnTo>
                    <a:pt x="55245" y="990600"/>
                  </a:lnTo>
                  <a:lnTo>
                    <a:pt x="51619" y="990600"/>
                  </a:lnTo>
                  <a:lnTo>
                    <a:pt x="48026" y="990244"/>
                  </a:lnTo>
                  <a:lnTo>
                    <a:pt x="44465" y="989533"/>
                  </a:lnTo>
                  <a:lnTo>
                    <a:pt x="40907" y="988834"/>
                  </a:lnTo>
                  <a:lnTo>
                    <a:pt x="9311" y="966038"/>
                  </a:lnTo>
                  <a:lnTo>
                    <a:pt x="7292" y="963028"/>
                  </a:lnTo>
                  <a:lnTo>
                    <a:pt x="5590" y="959853"/>
                  </a:lnTo>
                  <a:lnTo>
                    <a:pt x="4207" y="956500"/>
                  </a:lnTo>
                  <a:lnTo>
                    <a:pt x="2818" y="953147"/>
                  </a:lnTo>
                  <a:lnTo>
                    <a:pt x="1771" y="949693"/>
                  </a:lnTo>
                  <a:lnTo>
                    <a:pt x="1061" y="946137"/>
                  </a:lnTo>
                  <a:lnTo>
                    <a:pt x="351" y="942568"/>
                  </a:lnTo>
                  <a:lnTo>
                    <a:pt x="0" y="938987"/>
                  </a:lnTo>
                  <a:lnTo>
                    <a:pt x="0" y="9353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768350" y="3868737"/>
            <a:ext cx="249745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Human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Interaction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Built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for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world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engagement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600075" y="4876800"/>
            <a:ext cx="5943600" cy="1009650"/>
            <a:chOff x="600075" y="4876800"/>
            <a:chExt cx="5943600" cy="1009650"/>
          </a:xfrm>
        </p:grpSpPr>
        <p:sp>
          <p:nvSpPr>
            <p:cNvPr id="19" name="object 19" descr=""/>
            <p:cNvSpPr/>
            <p:nvPr/>
          </p:nvSpPr>
          <p:spPr>
            <a:xfrm>
              <a:off x="60483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944881"/>
                  </a:lnTo>
                  <a:lnTo>
                    <a:pt x="0" y="948507"/>
                  </a:lnTo>
                  <a:lnTo>
                    <a:pt x="18747" y="986508"/>
                  </a:lnTo>
                  <a:lnTo>
                    <a:pt x="51619" y="1000126"/>
                  </a:lnTo>
                  <a:lnTo>
                    <a:pt x="5882462" y="1000126"/>
                  </a:lnTo>
                  <a:lnTo>
                    <a:pt x="5920460" y="981378"/>
                  </a:lnTo>
                  <a:lnTo>
                    <a:pt x="5934075" y="9485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0483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1"/>
                  </a:lnTo>
                  <a:lnTo>
                    <a:pt x="5934075" y="948507"/>
                  </a:lnTo>
                  <a:lnTo>
                    <a:pt x="5933719" y="952098"/>
                  </a:lnTo>
                  <a:lnTo>
                    <a:pt x="5933008" y="955655"/>
                  </a:lnTo>
                  <a:lnTo>
                    <a:pt x="5932309" y="959213"/>
                  </a:lnTo>
                  <a:lnTo>
                    <a:pt x="5909525" y="990814"/>
                  </a:lnTo>
                  <a:lnTo>
                    <a:pt x="5899962" y="995918"/>
                  </a:lnTo>
                  <a:lnTo>
                    <a:pt x="5896622" y="997308"/>
                  </a:lnTo>
                  <a:lnTo>
                    <a:pt x="5893168" y="998354"/>
                  </a:lnTo>
                  <a:lnTo>
                    <a:pt x="5889599" y="999064"/>
                  </a:lnTo>
                  <a:lnTo>
                    <a:pt x="5886043" y="999769"/>
                  </a:lnTo>
                  <a:lnTo>
                    <a:pt x="5882462" y="1000126"/>
                  </a:lnTo>
                  <a:lnTo>
                    <a:pt x="5878830" y="1000126"/>
                  </a:lnTo>
                  <a:lnTo>
                    <a:pt x="55245" y="1000126"/>
                  </a:lnTo>
                  <a:lnTo>
                    <a:pt x="51619" y="1000126"/>
                  </a:lnTo>
                  <a:lnTo>
                    <a:pt x="48026" y="999769"/>
                  </a:lnTo>
                  <a:lnTo>
                    <a:pt x="13618" y="981378"/>
                  </a:lnTo>
                  <a:lnTo>
                    <a:pt x="9311" y="975569"/>
                  </a:lnTo>
                  <a:lnTo>
                    <a:pt x="7292" y="972553"/>
                  </a:lnTo>
                  <a:lnTo>
                    <a:pt x="5590" y="969368"/>
                  </a:lnTo>
                  <a:lnTo>
                    <a:pt x="4207" y="966019"/>
                  </a:lnTo>
                  <a:lnTo>
                    <a:pt x="2818" y="962666"/>
                  </a:lnTo>
                  <a:lnTo>
                    <a:pt x="1771" y="959213"/>
                  </a:lnTo>
                  <a:lnTo>
                    <a:pt x="1061" y="955655"/>
                  </a:lnTo>
                  <a:lnTo>
                    <a:pt x="351" y="952098"/>
                  </a:lnTo>
                  <a:lnTo>
                    <a:pt x="0" y="948507"/>
                  </a:lnTo>
                  <a:lnTo>
                    <a:pt x="0" y="944881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768350" y="5040313"/>
            <a:ext cx="246062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35" b="1">
                <a:solidFill>
                  <a:srgbClr val="E5E0DF"/>
                </a:solidFill>
                <a:latin typeface="Tahoma"/>
                <a:cs typeface="Tahoma"/>
              </a:rPr>
              <a:t>AI</a:t>
            </a:r>
            <a:r>
              <a:rPr dirty="0" sz="1650" spc="-17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280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7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Physics</a:t>
            </a:r>
            <a:r>
              <a:rPr dirty="0" sz="1650" spc="-17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Powered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Advanced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motion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behavior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482725"/>
            <a:ext cx="7712709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50"/>
              <a:t>How</a:t>
            </a:r>
            <a:r>
              <a:rPr dirty="0" spc="-355"/>
              <a:t> </a:t>
            </a:r>
            <a:r>
              <a:rPr dirty="0" spc="-120"/>
              <a:t>BLUE</a:t>
            </a:r>
            <a:r>
              <a:rPr dirty="0" spc="-355"/>
              <a:t> </a:t>
            </a:r>
            <a:r>
              <a:rPr dirty="0" spc="-105"/>
              <a:t>Works</a:t>
            </a:r>
            <a:r>
              <a:rPr dirty="0" spc="-355"/>
              <a:t> </a:t>
            </a:r>
            <a:r>
              <a:rPr dirty="0" spc="-114"/>
              <a:t>(The</a:t>
            </a:r>
            <a:r>
              <a:rPr dirty="0" spc="-355"/>
              <a:t> </a:t>
            </a:r>
            <a:r>
              <a:rPr dirty="0" spc="-65"/>
              <a:t>Tech</a:t>
            </a:r>
            <a:r>
              <a:rPr dirty="0" spc="-350"/>
              <a:t> </a:t>
            </a:r>
            <a:r>
              <a:rPr dirty="0" spc="-120"/>
              <a:t>Explained)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38175" y="32956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38175" y="39052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7375" y="2459037"/>
            <a:ext cx="1956435" cy="18459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334645">
              <a:lnSpc>
                <a:spcPct val="106100"/>
              </a:lnSpc>
              <a:spcBef>
                <a:spcPts val="15"/>
              </a:spcBef>
            </a:pPr>
            <a:r>
              <a:rPr dirty="0" sz="1650" spc="-70" b="1">
                <a:solidFill>
                  <a:srgbClr val="FFFFFF"/>
                </a:solidFill>
                <a:latin typeface="Tahoma"/>
                <a:cs typeface="Tahoma"/>
              </a:rPr>
              <a:t>Newton</a:t>
            </a:r>
            <a:r>
              <a:rPr dirty="0" sz="1650" spc="-1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Physics Engine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Real-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time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physics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via 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NVIDIA</a:t>
            </a: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Warp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5E0DF"/>
                </a:solidFill>
                <a:latin typeface="Verdana"/>
                <a:cs typeface="Verdana"/>
              </a:rPr>
              <a:t>GPU</a:t>
            </a:r>
            <a:endParaRPr sz="1350">
              <a:latin typeface="Verdana"/>
              <a:cs typeface="Verdana"/>
            </a:endParaRPr>
          </a:p>
          <a:p>
            <a:pPr marL="286385" marR="77470">
              <a:lnSpc>
                <a:spcPct val="134300"/>
              </a:lnSpc>
              <a:spcBef>
                <a:spcPts val="450"/>
              </a:spcBef>
            </a:pP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Natural 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movement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&amp;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balance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3305175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305175" y="33623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305175" y="39719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3258845" y="2459037"/>
            <a:ext cx="2219960" cy="19126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 b="1">
                <a:solidFill>
                  <a:srgbClr val="FFFFFF"/>
                </a:solidFill>
                <a:latin typeface="Tahoma"/>
                <a:cs typeface="Tahoma"/>
              </a:rPr>
              <a:t>Dual</a:t>
            </a:r>
            <a:r>
              <a:rPr dirty="0" sz="1650" spc="-15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25" b="1">
                <a:solidFill>
                  <a:srgbClr val="FFFFFF"/>
                </a:solidFill>
                <a:latin typeface="Tahoma"/>
                <a:cs typeface="Tahoma"/>
              </a:rPr>
              <a:t>NVIDIA</a:t>
            </a:r>
            <a:r>
              <a:rPr dirty="0" sz="165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Jetson</a:t>
            </a:r>
            <a:endParaRPr sz="1650">
              <a:latin typeface="Tahoma"/>
              <a:cs typeface="Tahoma"/>
            </a:endParaRPr>
          </a:p>
          <a:p>
            <a:pPr marL="286385">
              <a:lnSpc>
                <a:spcPct val="100000"/>
              </a:lnSpc>
              <a:spcBef>
                <a:spcPts val="1620"/>
              </a:spcBef>
            </a:pP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Vision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&amp; 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motion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planning</a:t>
            </a:r>
            <a:endParaRPr sz="1350">
              <a:latin typeface="Verdana"/>
              <a:cs typeface="Verdana"/>
            </a:endParaRPr>
          </a:p>
          <a:p>
            <a:pPr marL="286385" marR="113664">
              <a:lnSpc>
                <a:spcPct val="134300"/>
              </a:lnSpc>
              <a:spcBef>
                <a:spcPts val="450"/>
              </a:spcBef>
            </a:pP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Reinforcement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 learning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behaviors</a:t>
            </a:r>
            <a:endParaRPr sz="1350">
              <a:latin typeface="Verdana"/>
              <a:cs typeface="Verdana"/>
            </a:endParaRPr>
          </a:p>
          <a:p>
            <a:pPr marL="286385" marR="499109">
              <a:lnSpc>
                <a:spcPct val="134300"/>
              </a:lnSpc>
              <a:spcBef>
                <a:spcPts val="450"/>
              </a:spcBef>
            </a:pP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Facial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gesture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detection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5981700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5981700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5930303" y="2459037"/>
            <a:ext cx="2240915" cy="1569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FFFFFF"/>
                </a:solidFill>
                <a:latin typeface="Tahoma"/>
                <a:cs typeface="Tahoma"/>
              </a:rPr>
              <a:t>Sensory</a:t>
            </a:r>
            <a:r>
              <a:rPr dirty="0" sz="1650" spc="-12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endParaRPr sz="1650">
              <a:latin typeface="Tahoma"/>
              <a:cs typeface="Tahoma"/>
            </a:endParaRPr>
          </a:p>
          <a:p>
            <a:pPr marL="286385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Cameras,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touch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sensors,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microphones</a:t>
            </a:r>
            <a:endParaRPr sz="1350">
              <a:latin typeface="Verdana"/>
              <a:cs typeface="Verdana"/>
            </a:endParaRPr>
          </a:p>
          <a:p>
            <a:pPr marL="286385" marR="305435">
              <a:lnSpc>
                <a:spcPct val="129600"/>
              </a:lnSpc>
              <a:spcBef>
                <a:spcPts val="525"/>
              </a:spcBef>
            </a:pP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Voice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interaction </a:t>
            </a:r>
            <a:r>
              <a:rPr dirty="0" sz="1350" spc="-20">
                <a:solidFill>
                  <a:srgbClr val="E5E0DF"/>
                </a:solidFill>
                <a:latin typeface="Verdana"/>
                <a:cs typeface="Verdana"/>
              </a:rPr>
              <a:t>cues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8648700" y="3028949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8648700" y="36385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E5E0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601773" y="2459037"/>
            <a:ext cx="1854200" cy="156972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 b="1">
                <a:solidFill>
                  <a:srgbClr val="FFFFFF"/>
                </a:solidFill>
                <a:latin typeface="Tahoma"/>
                <a:cs typeface="Tahoma"/>
              </a:rPr>
              <a:t>Expression</a:t>
            </a:r>
            <a:r>
              <a:rPr dirty="0" sz="165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Tahoma"/>
                <a:cs typeface="Tahoma"/>
              </a:rPr>
              <a:t>Engine</a:t>
            </a:r>
            <a:endParaRPr sz="1650">
              <a:latin typeface="Tahoma"/>
              <a:cs typeface="Tahoma"/>
            </a:endParaRPr>
          </a:p>
          <a:p>
            <a:pPr marL="286385" marR="306070">
              <a:lnSpc>
                <a:spcPct val="134300"/>
              </a:lnSpc>
              <a:spcBef>
                <a:spcPts val="1065"/>
              </a:spcBef>
            </a:pP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LED</a:t>
            </a: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30">
                <a:solidFill>
                  <a:srgbClr val="E5E0DF"/>
                </a:solidFill>
                <a:latin typeface="Verdana"/>
                <a:cs typeface="Verdana"/>
              </a:rPr>
              <a:t>face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shows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emotions</a:t>
            </a:r>
            <a:endParaRPr sz="1350">
              <a:latin typeface="Verdana"/>
              <a:cs typeface="Verdana"/>
            </a:endParaRPr>
          </a:p>
          <a:p>
            <a:pPr marL="286385" marR="75565">
              <a:lnSpc>
                <a:spcPct val="129600"/>
              </a:lnSpc>
              <a:spcBef>
                <a:spcPts val="525"/>
              </a:spcBef>
            </a:pP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Gesture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system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for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playfulness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87375" y="4664075"/>
            <a:ext cx="383540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learns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adapts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familiar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users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in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real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time.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7" name="object 17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9225" rIns="0" bIns="0" rtlCol="0" vert="horz">
            <a:spAutoFit/>
          </a:bodyPr>
          <a:lstStyle/>
          <a:p>
            <a:pPr marL="4298950">
              <a:lnSpc>
                <a:spcPct val="100000"/>
              </a:lnSpc>
              <a:spcBef>
                <a:spcPts val="125"/>
              </a:spcBef>
            </a:pPr>
            <a:r>
              <a:rPr dirty="0" spc="-30"/>
              <a:t>The</a:t>
            </a:r>
            <a:r>
              <a:rPr dirty="0" spc="-360"/>
              <a:t> </a:t>
            </a:r>
            <a:r>
              <a:rPr dirty="0" spc="-140"/>
              <a:t>Star</a:t>
            </a:r>
            <a:r>
              <a:rPr dirty="0" spc="-360"/>
              <a:t> </a:t>
            </a:r>
            <a:r>
              <a:rPr dirty="0" spc="-125"/>
              <a:t>Wars</a:t>
            </a:r>
            <a:r>
              <a:rPr dirty="0" spc="-355"/>
              <a:t> </a:t>
            </a:r>
            <a:r>
              <a:rPr dirty="0" spc="-65"/>
              <a:t>Connection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2609849"/>
            <a:ext cx="390525" cy="390525"/>
            <a:chOff x="4886325" y="2609849"/>
            <a:chExt cx="390525" cy="390525"/>
          </a:xfrm>
        </p:grpSpPr>
        <p:sp>
          <p:nvSpPr>
            <p:cNvPr id="5" name="object 5" descr="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91087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430837" y="2592387"/>
            <a:ext cx="2118995" cy="90296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5E0DF"/>
                </a:solidFill>
                <a:latin typeface="Tahoma"/>
                <a:cs typeface="Tahoma"/>
              </a:rPr>
              <a:t>Expressive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280" b="1">
                <a:solidFill>
                  <a:srgbClr val="E5E0DF"/>
                </a:solidFill>
                <a:latin typeface="Tahoma"/>
                <a:cs typeface="Tahoma"/>
              </a:rPr>
              <a:t>s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30" b="1">
                <a:solidFill>
                  <a:srgbClr val="E5E0DF"/>
                </a:solidFill>
                <a:latin typeface="Tahoma"/>
                <a:cs typeface="Tahoma"/>
              </a:rPr>
              <a:t>Lovable</a:t>
            </a:r>
            <a:endParaRPr sz="1650">
              <a:latin typeface="Tahoma"/>
              <a:cs typeface="Tahoma"/>
            </a:endParaRPr>
          </a:p>
          <a:p>
            <a:pPr marL="12700" marR="147955">
              <a:lnSpc>
                <a:spcPct val="134300"/>
              </a:lnSpc>
              <a:spcBef>
                <a:spcPts val="540"/>
              </a:spcBef>
            </a:pP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Emotion-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filled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5E0DF"/>
                </a:solidFill>
                <a:latin typeface="Verdana"/>
                <a:cs typeface="Verdana"/>
              </a:rPr>
              <a:t>beeps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gestures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7943850" y="2609849"/>
            <a:ext cx="390525" cy="390525"/>
            <a:chOff x="7943850" y="2609849"/>
            <a:chExt cx="390525" cy="390525"/>
          </a:xfrm>
        </p:grpSpPr>
        <p:sp>
          <p:nvSpPr>
            <p:cNvPr id="9" name="object 9" descr=""/>
            <p:cNvSpPr/>
            <p:nvPr/>
          </p:nvSpPr>
          <p:spPr>
            <a:xfrm>
              <a:off x="7948612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7948612" y="261461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53428" y="7289"/>
                  </a:lnTo>
                  <a:lnTo>
                    <a:pt x="356438" y="9309"/>
                  </a:lnTo>
                  <a:lnTo>
                    <a:pt x="359460" y="11328"/>
                  </a:lnTo>
                  <a:lnTo>
                    <a:pt x="362254" y="13614"/>
                  </a:lnTo>
                  <a:lnTo>
                    <a:pt x="364820" y="16179"/>
                  </a:lnTo>
                  <a:lnTo>
                    <a:pt x="367385" y="18745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64820" y="364820"/>
                  </a:lnTo>
                  <a:lnTo>
                    <a:pt x="362254" y="367385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16179" y="364820"/>
                  </a:lnTo>
                  <a:lnTo>
                    <a:pt x="13614" y="362254"/>
                  </a:lnTo>
                  <a:lnTo>
                    <a:pt x="11328" y="359460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5588" y="350253"/>
                  </a:lnTo>
                  <a:lnTo>
                    <a:pt x="4203" y="346900"/>
                  </a:lnTo>
                  <a:lnTo>
                    <a:pt x="2819" y="343547"/>
                  </a:lnTo>
                  <a:lnTo>
                    <a:pt x="1765" y="340093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8488362" y="2573337"/>
            <a:ext cx="2013585" cy="118872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253365">
              <a:lnSpc>
                <a:spcPct val="109800"/>
              </a:lnSpc>
              <a:spcBef>
                <a:spcPts val="90"/>
              </a:spcBef>
            </a:pPr>
            <a:r>
              <a:rPr dirty="0" sz="1650" spc="-90" b="1">
                <a:solidFill>
                  <a:srgbClr val="E5E0DF"/>
                </a:solidFill>
                <a:latin typeface="Tahoma"/>
                <a:cs typeface="Tahoma"/>
              </a:rPr>
              <a:t>Inspired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by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65" b="1">
                <a:solidFill>
                  <a:srgbClr val="E5E0DF"/>
                </a:solidFill>
                <a:latin typeface="Tahoma"/>
                <a:cs typeface="Tahoma"/>
              </a:rPr>
              <a:t>Iconic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Droids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465"/>
              </a:spcBef>
            </a:pP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Resonates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with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0">
                <a:solidFill>
                  <a:srgbClr val="E5E0DF"/>
                </a:solidFill>
                <a:latin typeface="Verdana"/>
                <a:cs typeface="Verdana"/>
              </a:rPr>
              <a:t>Star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Wars </a:t>
            </a:r>
            <a:r>
              <a:rPr dirty="0" sz="1350" spc="-20">
                <a:solidFill>
                  <a:srgbClr val="E5E0DF"/>
                </a:solidFill>
                <a:latin typeface="Verdana"/>
                <a:cs typeface="Verdana"/>
              </a:rPr>
              <a:t>fans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886325" y="4162425"/>
            <a:ext cx="390525" cy="390525"/>
            <a:chOff x="4886325" y="4162425"/>
            <a:chExt cx="390525" cy="390525"/>
          </a:xfrm>
        </p:grpSpPr>
        <p:sp>
          <p:nvSpPr>
            <p:cNvPr id="13" name="object 13" descr=""/>
            <p:cNvSpPr/>
            <p:nvPr/>
          </p:nvSpPr>
          <p:spPr>
            <a:xfrm>
              <a:off x="4891087" y="41671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5" y="367385"/>
                  </a:lnTo>
                  <a:lnTo>
                    <a:pt x="51612" y="381000"/>
                  </a:lnTo>
                  <a:lnTo>
                    <a:pt x="329387" y="381000"/>
                  </a:lnTo>
                  <a:lnTo>
                    <a:pt x="367385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91087" y="416718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24" y="1066"/>
                  </a:lnTo>
                  <a:lnTo>
                    <a:pt x="340093" y="1765"/>
                  </a:lnTo>
                  <a:lnTo>
                    <a:pt x="343547" y="2819"/>
                  </a:lnTo>
                  <a:lnTo>
                    <a:pt x="346887" y="4203"/>
                  </a:lnTo>
                  <a:lnTo>
                    <a:pt x="350253" y="5588"/>
                  </a:lnTo>
                  <a:lnTo>
                    <a:pt x="376796" y="3409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4" y="332968"/>
                  </a:lnTo>
                  <a:lnTo>
                    <a:pt x="379933" y="336537"/>
                  </a:lnTo>
                  <a:lnTo>
                    <a:pt x="379234" y="340093"/>
                  </a:lnTo>
                  <a:lnTo>
                    <a:pt x="356450" y="371690"/>
                  </a:lnTo>
                  <a:lnTo>
                    <a:pt x="336524" y="379933"/>
                  </a:lnTo>
                  <a:lnTo>
                    <a:pt x="332968" y="380644"/>
                  </a:lnTo>
                  <a:lnTo>
                    <a:pt x="329387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2" y="381000"/>
                  </a:lnTo>
                  <a:lnTo>
                    <a:pt x="48018" y="380644"/>
                  </a:lnTo>
                  <a:lnTo>
                    <a:pt x="44462" y="379933"/>
                  </a:lnTo>
                  <a:lnTo>
                    <a:pt x="40906" y="379234"/>
                  </a:lnTo>
                  <a:lnTo>
                    <a:pt x="9309" y="356438"/>
                  </a:lnTo>
                  <a:lnTo>
                    <a:pt x="7289" y="353428"/>
                  </a:lnTo>
                  <a:lnTo>
                    <a:pt x="1066" y="336537"/>
                  </a:lnTo>
                  <a:lnTo>
                    <a:pt x="355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430837" y="4144962"/>
            <a:ext cx="239839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Real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Interaction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Engaged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with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NVIDIA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35">
                <a:solidFill>
                  <a:srgbClr val="E5E0DF"/>
                </a:solidFill>
                <a:latin typeface="Verdana"/>
                <a:cs typeface="Verdana"/>
              </a:rPr>
              <a:t>CEO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5E0DF"/>
                </a:solidFill>
                <a:latin typeface="Verdana"/>
                <a:cs typeface="Verdana"/>
              </a:rPr>
              <a:t>live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6" name="object 16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9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85"/>
              <a:t>Real-</a:t>
            </a:r>
            <a:r>
              <a:rPr dirty="0" spc="-145"/>
              <a:t>World</a:t>
            </a:r>
            <a:r>
              <a:rPr dirty="0" spc="-300"/>
              <a:t> </a:t>
            </a:r>
            <a:r>
              <a:rPr dirty="0" spc="-10"/>
              <a:t>Magic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7375" y="2982912"/>
            <a:ext cx="1391920" cy="12363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76200">
              <a:lnSpc>
                <a:spcPct val="106100"/>
              </a:lnSpc>
              <a:spcBef>
                <a:spcPts val="15"/>
              </a:spcBef>
            </a:pPr>
            <a:r>
              <a:rPr dirty="0" sz="1650" spc="-40" b="1">
                <a:solidFill>
                  <a:srgbClr val="FFFFFF"/>
                </a:solidFill>
                <a:latin typeface="Tahoma"/>
                <a:cs typeface="Tahoma"/>
              </a:rPr>
              <a:t>Disney</a:t>
            </a:r>
            <a:r>
              <a:rPr dirty="0" sz="165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-35" b="1">
                <a:solidFill>
                  <a:srgbClr val="FFFFFF"/>
                </a:solidFill>
                <a:latin typeface="Tahoma"/>
                <a:cs typeface="Tahoma"/>
              </a:rPr>
              <a:t>Parks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Debut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Global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attractions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appearance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717253" y="2982912"/>
            <a:ext cx="1428750" cy="9696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Movement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Walks,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rolls,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nods, follows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guests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871186" y="3018993"/>
            <a:ext cx="417195" cy="209550"/>
          </a:xfrm>
          <a:custGeom>
            <a:avLst/>
            <a:gdLst/>
            <a:ahLst/>
            <a:cxnLst/>
            <a:rect l="l" t="t" r="r" b="b"/>
            <a:pathLst>
              <a:path w="417195" h="209550">
                <a:moveTo>
                  <a:pt x="99987" y="37579"/>
                </a:moveTo>
                <a:lnTo>
                  <a:pt x="10515" y="37579"/>
                </a:lnTo>
                <a:lnTo>
                  <a:pt x="10515" y="90208"/>
                </a:lnTo>
                <a:lnTo>
                  <a:pt x="99987" y="90208"/>
                </a:lnTo>
                <a:lnTo>
                  <a:pt x="99987" y="69545"/>
                </a:lnTo>
                <a:lnTo>
                  <a:pt x="33324" y="69545"/>
                </a:lnTo>
                <a:lnTo>
                  <a:pt x="33324" y="58293"/>
                </a:lnTo>
                <a:lnTo>
                  <a:pt x="99987" y="58293"/>
                </a:lnTo>
                <a:lnTo>
                  <a:pt x="99987" y="37579"/>
                </a:lnTo>
                <a:close/>
              </a:path>
              <a:path w="417195" h="209550">
                <a:moveTo>
                  <a:pt x="99987" y="58293"/>
                </a:moveTo>
                <a:lnTo>
                  <a:pt x="76288" y="58293"/>
                </a:lnTo>
                <a:lnTo>
                  <a:pt x="76288" y="69545"/>
                </a:lnTo>
                <a:lnTo>
                  <a:pt x="99987" y="69545"/>
                </a:lnTo>
                <a:lnTo>
                  <a:pt x="99987" y="58293"/>
                </a:lnTo>
                <a:close/>
              </a:path>
              <a:path w="417195" h="209550">
                <a:moveTo>
                  <a:pt x="202521" y="191185"/>
                </a:moveTo>
                <a:lnTo>
                  <a:pt x="180568" y="191185"/>
                </a:lnTo>
                <a:lnTo>
                  <a:pt x="181064" y="193230"/>
                </a:lnTo>
                <a:lnTo>
                  <a:pt x="182456" y="199466"/>
                </a:lnTo>
                <a:lnTo>
                  <a:pt x="183705" y="209397"/>
                </a:lnTo>
                <a:lnTo>
                  <a:pt x="204889" y="203174"/>
                </a:lnTo>
                <a:lnTo>
                  <a:pt x="202521" y="191185"/>
                </a:lnTo>
                <a:close/>
              </a:path>
              <a:path w="417195" h="209550">
                <a:moveTo>
                  <a:pt x="380492" y="112598"/>
                </a:moveTo>
                <a:lnTo>
                  <a:pt x="238544" y="112598"/>
                </a:lnTo>
                <a:lnTo>
                  <a:pt x="238544" y="207619"/>
                </a:lnTo>
                <a:lnTo>
                  <a:pt x="263715" y="207619"/>
                </a:lnTo>
                <a:lnTo>
                  <a:pt x="263715" y="195643"/>
                </a:lnTo>
                <a:lnTo>
                  <a:pt x="380492" y="195643"/>
                </a:lnTo>
                <a:lnTo>
                  <a:pt x="380492" y="171729"/>
                </a:lnTo>
                <a:lnTo>
                  <a:pt x="263715" y="171729"/>
                </a:lnTo>
                <a:lnTo>
                  <a:pt x="263715" y="136042"/>
                </a:lnTo>
                <a:lnTo>
                  <a:pt x="380492" y="136042"/>
                </a:lnTo>
                <a:lnTo>
                  <a:pt x="380492" y="112598"/>
                </a:lnTo>
                <a:close/>
              </a:path>
              <a:path w="417195" h="209550">
                <a:moveTo>
                  <a:pt x="107061" y="93294"/>
                </a:moveTo>
                <a:lnTo>
                  <a:pt x="3251" y="93294"/>
                </a:lnTo>
                <a:lnTo>
                  <a:pt x="3251" y="207416"/>
                </a:lnTo>
                <a:lnTo>
                  <a:pt x="24955" y="207416"/>
                </a:lnTo>
                <a:lnTo>
                  <a:pt x="24955" y="160274"/>
                </a:lnTo>
                <a:lnTo>
                  <a:pt x="22288" y="160274"/>
                </a:lnTo>
                <a:lnTo>
                  <a:pt x="22288" y="140436"/>
                </a:lnTo>
                <a:lnTo>
                  <a:pt x="24955" y="140436"/>
                </a:lnTo>
                <a:lnTo>
                  <a:pt x="24955" y="119305"/>
                </a:lnTo>
                <a:lnTo>
                  <a:pt x="22872" y="115900"/>
                </a:lnTo>
                <a:lnTo>
                  <a:pt x="24914" y="115217"/>
                </a:lnTo>
                <a:lnTo>
                  <a:pt x="24955" y="114858"/>
                </a:lnTo>
                <a:lnTo>
                  <a:pt x="25986" y="114858"/>
                </a:lnTo>
                <a:lnTo>
                  <a:pt x="41021" y="109829"/>
                </a:lnTo>
                <a:lnTo>
                  <a:pt x="67338" y="109829"/>
                </a:lnTo>
                <a:lnTo>
                  <a:pt x="68122" y="107797"/>
                </a:lnTo>
                <a:lnTo>
                  <a:pt x="107061" y="107797"/>
                </a:lnTo>
                <a:lnTo>
                  <a:pt x="107061" y="93294"/>
                </a:lnTo>
                <a:close/>
              </a:path>
              <a:path w="417195" h="209550">
                <a:moveTo>
                  <a:pt x="380492" y="195643"/>
                </a:moveTo>
                <a:lnTo>
                  <a:pt x="354698" y="195643"/>
                </a:lnTo>
                <a:lnTo>
                  <a:pt x="354698" y="206781"/>
                </a:lnTo>
                <a:lnTo>
                  <a:pt x="380492" y="206781"/>
                </a:lnTo>
                <a:lnTo>
                  <a:pt x="380492" y="195643"/>
                </a:lnTo>
                <a:close/>
              </a:path>
              <a:path w="417195" h="209550">
                <a:moveTo>
                  <a:pt x="65722" y="183649"/>
                </a:moveTo>
                <a:lnTo>
                  <a:pt x="65722" y="190834"/>
                </a:lnTo>
                <a:lnTo>
                  <a:pt x="66875" y="193230"/>
                </a:lnTo>
                <a:lnTo>
                  <a:pt x="66979" y="193446"/>
                </a:lnTo>
                <a:lnTo>
                  <a:pt x="68491" y="198259"/>
                </a:lnTo>
                <a:lnTo>
                  <a:pt x="69619" y="205051"/>
                </a:lnTo>
                <a:lnTo>
                  <a:pt x="69697" y="205524"/>
                </a:lnTo>
                <a:lnTo>
                  <a:pt x="77858" y="205524"/>
                </a:lnTo>
                <a:lnTo>
                  <a:pt x="87641" y="205051"/>
                </a:lnTo>
                <a:lnTo>
                  <a:pt x="107061" y="191869"/>
                </a:lnTo>
                <a:lnTo>
                  <a:pt x="105707" y="186905"/>
                </a:lnTo>
                <a:lnTo>
                  <a:pt x="87172" y="186905"/>
                </a:lnTo>
                <a:lnTo>
                  <a:pt x="84874" y="185432"/>
                </a:lnTo>
                <a:lnTo>
                  <a:pt x="84874" y="183972"/>
                </a:lnTo>
                <a:lnTo>
                  <a:pt x="77381" y="183972"/>
                </a:lnTo>
                <a:lnTo>
                  <a:pt x="65722" y="183649"/>
                </a:lnTo>
                <a:close/>
              </a:path>
              <a:path w="417195" h="209550">
                <a:moveTo>
                  <a:pt x="163817" y="134785"/>
                </a:moveTo>
                <a:lnTo>
                  <a:pt x="140589" y="134785"/>
                </a:lnTo>
                <a:lnTo>
                  <a:pt x="140589" y="174663"/>
                </a:lnTo>
                <a:lnTo>
                  <a:pt x="107061" y="179505"/>
                </a:lnTo>
                <a:lnTo>
                  <a:pt x="107061" y="191869"/>
                </a:lnTo>
                <a:lnTo>
                  <a:pt x="110299" y="203746"/>
                </a:lnTo>
                <a:lnTo>
                  <a:pt x="180568" y="191185"/>
                </a:lnTo>
                <a:lnTo>
                  <a:pt x="202521" y="191185"/>
                </a:lnTo>
                <a:lnTo>
                  <a:pt x="201902" y="188051"/>
                </a:lnTo>
                <a:lnTo>
                  <a:pt x="197393" y="171729"/>
                </a:lnTo>
                <a:lnTo>
                  <a:pt x="197146" y="170942"/>
                </a:lnTo>
                <a:lnTo>
                  <a:pt x="163817" y="170942"/>
                </a:lnTo>
                <a:lnTo>
                  <a:pt x="163817" y="134785"/>
                </a:lnTo>
                <a:close/>
              </a:path>
              <a:path w="417195" h="209550">
                <a:moveTo>
                  <a:pt x="65722" y="160274"/>
                </a:moveTo>
                <a:lnTo>
                  <a:pt x="44577" y="160274"/>
                </a:lnTo>
                <a:lnTo>
                  <a:pt x="44577" y="202069"/>
                </a:lnTo>
                <a:lnTo>
                  <a:pt x="65722" y="202069"/>
                </a:lnTo>
                <a:lnTo>
                  <a:pt x="65722" y="190834"/>
                </a:lnTo>
                <a:lnTo>
                  <a:pt x="62263" y="183649"/>
                </a:lnTo>
                <a:lnTo>
                  <a:pt x="65722" y="183649"/>
                </a:lnTo>
                <a:lnTo>
                  <a:pt x="65722" y="160274"/>
                </a:lnTo>
                <a:close/>
              </a:path>
              <a:path w="417195" h="209550">
                <a:moveTo>
                  <a:pt x="107061" y="179505"/>
                </a:moveTo>
                <a:lnTo>
                  <a:pt x="103809" y="179946"/>
                </a:lnTo>
                <a:lnTo>
                  <a:pt x="107061" y="191869"/>
                </a:lnTo>
                <a:lnTo>
                  <a:pt x="107061" y="179505"/>
                </a:lnTo>
                <a:close/>
              </a:path>
              <a:path w="417195" h="209550">
                <a:moveTo>
                  <a:pt x="65722" y="183649"/>
                </a:moveTo>
                <a:lnTo>
                  <a:pt x="62263" y="183649"/>
                </a:lnTo>
                <a:lnTo>
                  <a:pt x="65722" y="190834"/>
                </a:lnTo>
                <a:lnTo>
                  <a:pt x="65722" y="183649"/>
                </a:lnTo>
                <a:close/>
              </a:path>
              <a:path w="417195" h="209550">
                <a:moveTo>
                  <a:pt x="107061" y="107797"/>
                </a:moveTo>
                <a:lnTo>
                  <a:pt x="68122" y="107797"/>
                </a:lnTo>
                <a:lnTo>
                  <a:pt x="84065" y="114858"/>
                </a:lnTo>
                <a:lnTo>
                  <a:pt x="84874" y="114858"/>
                </a:lnTo>
                <a:lnTo>
                  <a:pt x="84874" y="115217"/>
                </a:lnTo>
                <a:lnTo>
                  <a:pt x="87591" y="116420"/>
                </a:lnTo>
                <a:lnTo>
                  <a:pt x="84874" y="121573"/>
                </a:lnTo>
                <a:lnTo>
                  <a:pt x="84874" y="185432"/>
                </a:lnTo>
                <a:lnTo>
                  <a:pt x="87172" y="186905"/>
                </a:lnTo>
                <a:lnTo>
                  <a:pt x="87795" y="186270"/>
                </a:lnTo>
                <a:lnTo>
                  <a:pt x="86334" y="183972"/>
                </a:lnTo>
                <a:lnTo>
                  <a:pt x="104907" y="183972"/>
                </a:lnTo>
                <a:lnTo>
                  <a:pt x="103809" y="179946"/>
                </a:lnTo>
                <a:lnTo>
                  <a:pt x="107061" y="179505"/>
                </a:lnTo>
                <a:lnTo>
                  <a:pt x="107061" y="160274"/>
                </a:lnTo>
                <a:lnTo>
                  <a:pt x="86487" y="160274"/>
                </a:lnTo>
                <a:lnTo>
                  <a:pt x="86487" y="140436"/>
                </a:lnTo>
                <a:lnTo>
                  <a:pt x="107061" y="140436"/>
                </a:lnTo>
                <a:lnTo>
                  <a:pt x="107061" y="107797"/>
                </a:lnTo>
                <a:close/>
              </a:path>
              <a:path w="417195" h="209550">
                <a:moveTo>
                  <a:pt x="104907" y="183972"/>
                </a:moveTo>
                <a:lnTo>
                  <a:pt x="86334" y="183972"/>
                </a:lnTo>
                <a:lnTo>
                  <a:pt x="87795" y="186270"/>
                </a:lnTo>
                <a:lnTo>
                  <a:pt x="87172" y="186905"/>
                </a:lnTo>
                <a:lnTo>
                  <a:pt x="105707" y="186905"/>
                </a:lnTo>
                <a:lnTo>
                  <a:pt x="104907" y="183972"/>
                </a:lnTo>
                <a:close/>
              </a:path>
              <a:path w="417195" h="209550">
                <a:moveTo>
                  <a:pt x="380492" y="136042"/>
                </a:moveTo>
                <a:lnTo>
                  <a:pt x="354698" y="136042"/>
                </a:lnTo>
                <a:lnTo>
                  <a:pt x="354698" y="171729"/>
                </a:lnTo>
                <a:lnTo>
                  <a:pt x="380492" y="171729"/>
                </a:lnTo>
                <a:lnTo>
                  <a:pt x="380492" y="136042"/>
                </a:lnTo>
                <a:close/>
              </a:path>
              <a:path w="417195" h="209550">
                <a:moveTo>
                  <a:pt x="184492" y="137147"/>
                </a:moveTo>
                <a:lnTo>
                  <a:pt x="164185" y="141960"/>
                </a:lnTo>
                <a:lnTo>
                  <a:pt x="167850" y="151112"/>
                </a:lnTo>
                <a:lnTo>
                  <a:pt x="170761" y="158826"/>
                </a:lnTo>
                <a:lnTo>
                  <a:pt x="172933" y="164920"/>
                </a:lnTo>
                <a:lnTo>
                  <a:pt x="174383" y="169214"/>
                </a:lnTo>
                <a:lnTo>
                  <a:pt x="163817" y="170942"/>
                </a:lnTo>
                <a:lnTo>
                  <a:pt x="197146" y="170942"/>
                </a:lnTo>
                <a:lnTo>
                  <a:pt x="191394" y="154120"/>
                </a:lnTo>
                <a:lnTo>
                  <a:pt x="184571" y="137340"/>
                </a:lnTo>
                <a:lnTo>
                  <a:pt x="184492" y="137147"/>
                </a:lnTo>
                <a:close/>
              </a:path>
              <a:path w="417195" h="209550">
                <a:moveTo>
                  <a:pt x="24955" y="140436"/>
                </a:moveTo>
                <a:lnTo>
                  <a:pt x="22288" y="140436"/>
                </a:lnTo>
                <a:lnTo>
                  <a:pt x="22288" y="160274"/>
                </a:lnTo>
                <a:lnTo>
                  <a:pt x="24955" y="160274"/>
                </a:lnTo>
                <a:lnTo>
                  <a:pt x="24955" y="140436"/>
                </a:lnTo>
                <a:close/>
              </a:path>
              <a:path w="417195" h="209550">
                <a:moveTo>
                  <a:pt x="35710" y="140436"/>
                </a:moveTo>
                <a:lnTo>
                  <a:pt x="24955" y="140436"/>
                </a:lnTo>
                <a:lnTo>
                  <a:pt x="24955" y="160274"/>
                </a:lnTo>
                <a:lnTo>
                  <a:pt x="84874" y="160274"/>
                </a:lnTo>
                <a:lnTo>
                  <a:pt x="84874" y="149809"/>
                </a:lnTo>
                <a:lnTo>
                  <a:pt x="38671" y="149809"/>
                </a:lnTo>
                <a:lnTo>
                  <a:pt x="36154" y="141508"/>
                </a:lnTo>
                <a:lnTo>
                  <a:pt x="35710" y="140436"/>
                </a:lnTo>
                <a:close/>
              </a:path>
              <a:path w="417195" h="209550">
                <a:moveTo>
                  <a:pt x="107061" y="140436"/>
                </a:moveTo>
                <a:lnTo>
                  <a:pt x="86487" y="140436"/>
                </a:lnTo>
                <a:lnTo>
                  <a:pt x="86487" y="160274"/>
                </a:lnTo>
                <a:lnTo>
                  <a:pt x="107061" y="160274"/>
                </a:lnTo>
                <a:lnTo>
                  <a:pt x="107061" y="140436"/>
                </a:lnTo>
                <a:close/>
              </a:path>
              <a:path w="417195" h="209550">
                <a:moveTo>
                  <a:pt x="41021" y="109829"/>
                </a:moveTo>
                <a:lnTo>
                  <a:pt x="24955" y="115217"/>
                </a:lnTo>
                <a:lnTo>
                  <a:pt x="24955" y="119305"/>
                </a:lnTo>
                <a:lnTo>
                  <a:pt x="28382" y="124907"/>
                </a:lnTo>
                <a:lnTo>
                  <a:pt x="32767" y="133326"/>
                </a:lnTo>
                <a:lnTo>
                  <a:pt x="36154" y="141508"/>
                </a:lnTo>
                <a:lnTo>
                  <a:pt x="38671" y="149809"/>
                </a:lnTo>
                <a:lnTo>
                  <a:pt x="57086" y="142582"/>
                </a:lnTo>
                <a:lnTo>
                  <a:pt x="56307" y="140436"/>
                </a:lnTo>
                <a:lnTo>
                  <a:pt x="53530" y="140436"/>
                </a:lnTo>
                <a:lnTo>
                  <a:pt x="55183" y="137340"/>
                </a:lnTo>
                <a:lnTo>
                  <a:pt x="54125" y="134424"/>
                </a:lnTo>
                <a:lnTo>
                  <a:pt x="50425" y="126149"/>
                </a:lnTo>
                <a:lnTo>
                  <a:pt x="46060" y="117958"/>
                </a:lnTo>
                <a:lnTo>
                  <a:pt x="41021" y="109829"/>
                </a:lnTo>
                <a:close/>
              </a:path>
              <a:path w="417195" h="209550">
                <a:moveTo>
                  <a:pt x="68122" y="107797"/>
                </a:moveTo>
                <a:lnTo>
                  <a:pt x="55183" y="137340"/>
                </a:lnTo>
                <a:lnTo>
                  <a:pt x="57086" y="142582"/>
                </a:lnTo>
                <a:lnTo>
                  <a:pt x="38671" y="149809"/>
                </a:lnTo>
                <a:lnTo>
                  <a:pt x="84874" y="149809"/>
                </a:lnTo>
                <a:lnTo>
                  <a:pt x="84874" y="140436"/>
                </a:lnTo>
                <a:lnTo>
                  <a:pt x="74980" y="140436"/>
                </a:lnTo>
                <a:lnTo>
                  <a:pt x="76633" y="137340"/>
                </a:lnTo>
                <a:lnTo>
                  <a:pt x="82896" y="125324"/>
                </a:lnTo>
                <a:lnTo>
                  <a:pt x="84874" y="121573"/>
                </a:lnTo>
                <a:lnTo>
                  <a:pt x="84874" y="115217"/>
                </a:lnTo>
                <a:lnTo>
                  <a:pt x="68122" y="107797"/>
                </a:lnTo>
                <a:close/>
              </a:path>
              <a:path w="417195" h="209550">
                <a:moveTo>
                  <a:pt x="55183" y="137340"/>
                </a:moveTo>
                <a:lnTo>
                  <a:pt x="53530" y="140436"/>
                </a:lnTo>
                <a:lnTo>
                  <a:pt x="56307" y="140436"/>
                </a:lnTo>
                <a:lnTo>
                  <a:pt x="55183" y="137340"/>
                </a:lnTo>
                <a:close/>
              </a:path>
              <a:path w="417195" h="209550">
                <a:moveTo>
                  <a:pt x="195160" y="44640"/>
                </a:moveTo>
                <a:lnTo>
                  <a:pt x="108673" y="44640"/>
                </a:lnTo>
                <a:lnTo>
                  <a:pt x="108673" y="134785"/>
                </a:lnTo>
                <a:lnTo>
                  <a:pt x="195160" y="134785"/>
                </a:lnTo>
                <a:lnTo>
                  <a:pt x="195160" y="111506"/>
                </a:lnTo>
                <a:lnTo>
                  <a:pt x="129755" y="111506"/>
                </a:lnTo>
                <a:lnTo>
                  <a:pt x="129755" y="67500"/>
                </a:lnTo>
                <a:lnTo>
                  <a:pt x="195160" y="67500"/>
                </a:lnTo>
                <a:lnTo>
                  <a:pt x="195160" y="44640"/>
                </a:lnTo>
                <a:close/>
              </a:path>
              <a:path w="417195" h="209550">
                <a:moveTo>
                  <a:pt x="84874" y="115217"/>
                </a:moveTo>
                <a:lnTo>
                  <a:pt x="84874" y="121573"/>
                </a:lnTo>
                <a:lnTo>
                  <a:pt x="87591" y="116420"/>
                </a:lnTo>
                <a:lnTo>
                  <a:pt x="84874" y="115217"/>
                </a:lnTo>
                <a:close/>
              </a:path>
              <a:path w="417195" h="209550">
                <a:moveTo>
                  <a:pt x="24955" y="115217"/>
                </a:moveTo>
                <a:lnTo>
                  <a:pt x="22872" y="115900"/>
                </a:lnTo>
                <a:lnTo>
                  <a:pt x="24955" y="119305"/>
                </a:lnTo>
                <a:lnTo>
                  <a:pt x="24955" y="115217"/>
                </a:lnTo>
                <a:close/>
              </a:path>
              <a:path w="417195" h="209550">
                <a:moveTo>
                  <a:pt x="67338" y="109829"/>
                </a:moveTo>
                <a:lnTo>
                  <a:pt x="41021" y="109829"/>
                </a:lnTo>
                <a:lnTo>
                  <a:pt x="44138" y="114858"/>
                </a:lnTo>
                <a:lnTo>
                  <a:pt x="65396" y="114858"/>
                </a:lnTo>
                <a:lnTo>
                  <a:pt x="67338" y="109829"/>
                </a:lnTo>
                <a:close/>
              </a:path>
              <a:path w="417195" h="209550">
                <a:moveTo>
                  <a:pt x="162775" y="67500"/>
                </a:moveTo>
                <a:lnTo>
                  <a:pt x="141693" y="67500"/>
                </a:lnTo>
                <a:lnTo>
                  <a:pt x="141693" y="111506"/>
                </a:lnTo>
                <a:lnTo>
                  <a:pt x="162775" y="111506"/>
                </a:lnTo>
                <a:lnTo>
                  <a:pt x="162775" y="67500"/>
                </a:lnTo>
                <a:close/>
              </a:path>
              <a:path w="417195" h="209550">
                <a:moveTo>
                  <a:pt x="195160" y="67500"/>
                </a:moveTo>
                <a:lnTo>
                  <a:pt x="173609" y="67500"/>
                </a:lnTo>
                <a:lnTo>
                  <a:pt x="173609" y="111506"/>
                </a:lnTo>
                <a:lnTo>
                  <a:pt x="195160" y="111506"/>
                </a:lnTo>
                <a:lnTo>
                  <a:pt x="195160" y="67500"/>
                </a:lnTo>
                <a:close/>
              </a:path>
              <a:path w="417195" h="209550">
                <a:moveTo>
                  <a:pt x="310273" y="0"/>
                </a:moveTo>
                <a:lnTo>
                  <a:pt x="289869" y="25412"/>
                </a:lnTo>
                <a:lnTo>
                  <a:pt x="264442" y="47712"/>
                </a:lnTo>
                <a:lnTo>
                  <a:pt x="234582" y="66770"/>
                </a:lnTo>
                <a:lnTo>
                  <a:pt x="200875" y="82461"/>
                </a:lnTo>
                <a:lnTo>
                  <a:pt x="207318" y="88136"/>
                </a:lnTo>
                <a:lnTo>
                  <a:pt x="212164" y="93294"/>
                </a:lnTo>
                <a:lnTo>
                  <a:pt x="215956" y="98288"/>
                </a:lnTo>
                <a:lnTo>
                  <a:pt x="219341" y="103606"/>
                </a:lnTo>
                <a:lnTo>
                  <a:pt x="229777" y="98861"/>
                </a:lnTo>
                <a:lnTo>
                  <a:pt x="238556" y="94611"/>
                </a:lnTo>
                <a:lnTo>
                  <a:pt x="245316" y="91119"/>
                </a:lnTo>
                <a:lnTo>
                  <a:pt x="249694" y="88646"/>
                </a:lnTo>
                <a:lnTo>
                  <a:pt x="366788" y="88646"/>
                </a:lnTo>
                <a:lnTo>
                  <a:pt x="366788" y="85077"/>
                </a:lnTo>
                <a:lnTo>
                  <a:pt x="411577" y="85077"/>
                </a:lnTo>
                <a:lnTo>
                  <a:pt x="416864" y="80111"/>
                </a:lnTo>
                <a:lnTo>
                  <a:pt x="399292" y="72110"/>
                </a:lnTo>
                <a:lnTo>
                  <a:pt x="275170" y="72110"/>
                </a:lnTo>
                <a:lnTo>
                  <a:pt x="281565" y="67290"/>
                </a:lnTo>
                <a:lnTo>
                  <a:pt x="290536" y="59677"/>
                </a:lnTo>
                <a:lnTo>
                  <a:pt x="300418" y="50482"/>
                </a:lnTo>
                <a:lnTo>
                  <a:pt x="309549" y="40919"/>
                </a:lnTo>
                <a:lnTo>
                  <a:pt x="345745" y="40919"/>
                </a:lnTo>
                <a:lnTo>
                  <a:pt x="342853" y="38899"/>
                </a:lnTo>
                <a:lnTo>
                  <a:pt x="324827" y="22352"/>
                </a:lnTo>
                <a:lnTo>
                  <a:pt x="332511" y="11468"/>
                </a:lnTo>
                <a:lnTo>
                  <a:pt x="310273" y="0"/>
                </a:lnTo>
                <a:close/>
              </a:path>
              <a:path w="417195" h="209550">
                <a:moveTo>
                  <a:pt x="411577" y="85077"/>
                </a:moveTo>
                <a:lnTo>
                  <a:pt x="366788" y="85077"/>
                </a:lnTo>
                <a:lnTo>
                  <a:pt x="371461" y="87801"/>
                </a:lnTo>
                <a:lnTo>
                  <a:pt x="378637" y="91660"/>
                </a:lnTo>
                <a:lnTo>
                  <a:pt x="388052" y="96441"/>
                </a:lnTo>
                <a:lnTo>
                  <a:pt x="399440" y="101930"/>
                </a:lnTo>
                <a:lnTo>
                  <a:pt x="402559" y="96026"/>
                </a:lnTo>
                <a:lnTo>
                  <a:pt x="406228" y="90844"/>
                </a:lnTo>
                <a:lnTo>
                  <a:pt x="410859" y="85751"/>
                </a:lnTo>
                <a:lnTo>
                  <a:pt x="411577" y="85077"/>
                </a:lnTo>
                <a:close/>
              </a:path>
              <a:path w="417195" h="209550">
                <a:moveTo>
                  <a:pt x="366788" y="88646"/>
                </a:moveTo>
                <a:lnTo>
                  <a:pt x="249694" y="88646"/>
                </a:lnTo>
                <a:lnTo>
                  <a:pt x="249694" y="95758"/>
                </a:lnTo>
                <a:lnTo>
                  <a:pt x="366788" y="95758"/>
                </a:lnTo>
                <a:lnTo>
                  <a:pt x="366788" y="88646"/>
                </a:lnTo>
                <a:close/>
              </a:path>
              <a:path w="417195" h="209550">
                <a:moveTo>
                  <a:pt x="345745" y="40919"/>
                </a:moveTo>
                <a:lnTo>
                  <a:pt x="309549" y="40919"/>
                </a:lnTo>
                <a:lnTo>
                  <a:pt x="320004" y="51157"/>
                </a:lnTo>
                <a:lnTo>
                  <a:pt x="330573" y="60420"/>
                </a:lnTo>
                <a:lnTo>
                  <a:pt x="339719" y="67729"/>
                </a:lnTo>
                <a:lnTo>
                  <a:pt x="345909" y="72110"/>
                </a:lnTo>
                <a:lnTo>
                  <a:pt x="399292" y="72110"/>
                </a:lnTo>
                <a:lnTo>
                  <a:pt x="388707" y="67290"/>
                </a:lnTo>
                <a:lnTo>
                  <a:pt x="364012" y="53679"/>
                </a:lnTo>
                <a:lnTo>
                  <a:pt x="345745" y="40919"/>
                </a:lnTo>
                <a:close/>
              </a:path>
              <a:path w="417195" h="209550">
                <a:moveTo>
                  <a:pt x="163817" y="3517"/>
                </a:moveTo>
                <a:lnTo>
                  <a:pt x="140589" y="3517"/>
                </a:lnTo>
                <a:lnTo>
                  <a:pt x="140589" y="44640"/>
                </a:lnTo>
                <a:lnTo>
                  <a:pt x="163817" y="44640"/>
                </a:lnTo>
                <a:lnTo>
                  <a:pt x="163817" y="3517"/>
                </a:lnTo>
                <a:close/>
              </a:path>
              <a:path w="417195" h="209550">
                <a:moveTo>
                  <a:pt x="110248" y="11468"/>
                </a:moveTo>
                <a:lnTo>
                  <a:pt x="0" y="11468"/>
                </a:lnTo>
                <a:lnTo>
                  <a:pt x="0" y="34277"/>
                </a:lnTo>
                <a:lnTo>
                  <a:pt x="110248" y="34277"/>
                </a:lnTo>
                <a:lnTo>
                  <a:pt x="110248" y="114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4847132" y="2982912"/>
            <a:ext cx="1627505" cy="123634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90805" indent="459740">
              <a:lnSpc>
                <a:spcPct val="106100"/>
              </a:lnSpc>
              <a:spcBef>
                <a:spcPts val="15"/>
              </a:spcBef>
            </a:pPr>
            <a:r>
              <a:rPr dirty="0" sz="1650" spc="-50" b="1">
                <a:solidFill>
                  <a:srgbClr val="FFFFFF"/>
                </a:solidFill>
                <a:latin typeface="Tahoma"/>
                <a:cs typeface="Tahoma"/>
              </a:rPr>
              <a:t>Robotics</a:t>
            </a:r>
            <a:r>
              <a:rPr dirty="0" sz="1650" spc="-14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650" spc="229" b="1">
                <a:solidFill>
                  <a:srgbClr val="FFFFFF"/>
                </a:solidFill>
                <a:latin typeface="Tahoma"/>
                <a:cs typeface="Tahoma"/>
              </a:rPr>
              <a:t>s </a:t>
            </a:r>
            <a:r>
              <a:rPr dirty="0" sz="1650" spc="-10" b="1">
                <a:solidFill>
                  <a:srgbClr val="FFFFFF"/>
                </a:solidFill>
                <a:latin typeface="Tahoma"/>
                <a:cs typeface="Tahoma"/>
              </a:rPr>
              <a:t>Storytelling</a:t>
            </a:r>
            <a:endParaRPr sz="1650">
              <a:latin typeface="Tahoma"/>
              <a:cs typeface="Tahoma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Seamless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animation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and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55">
                <a:solidFill>
                  <a:srgbClr val="E5E0DF"/>
                </a:solidFill>
                <a:latin typeface="Verdana"/>
                <a:cs typeface="Verdana"/>
              </a:rPr>
              <a:t>magic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530225"/>
            <a:ext cx="54102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Amazing</a:t>
            </a:r>
            <a:r>
              <a:rPr dirty="0" spc="-335"/>
              <a:t> </a:t>
            </a:r>
            <a:r>
              <a:rPr dirty="0" spc="-75"/>
              <a:t>Facts</a:t>
            </a:r>
            <a:r>
              <a:rPr dirty="0" spc="-330"/>
              <a:t> </a:t>
            </a:r>
            <a:r>
              <a:rPr dirty="0" spc="-90"/>
              <a:t>About</a:t>
            </a:r>
            <a:r>
              <a:rPr dirty="0" spc="-335"/>
              <a:t> </a:t>
            </a:r>
            <a:r>
              <a:rPr dirty="0" spc="-40"/>
              <a:t>BLUE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6325" y="1343024"/>
            <a:ext cx="5943600" cy="1009650"/>
            <a:chOff x="4886325" y="1343024"/>
            <a:chExt cx="5943600" cy="1009650"/>
          </a:xfrm>
        </p:grpSpPr>
        <p:sp>
          <p:nvSpPr>
            <p:cNvPr id="5" name="object 5" descr="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91087" y="13477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054600" y="1506537"/>
            <a:ext cx="211328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 b="1">
                <a:solidFill>
                  <a:srgbClr val="E5E0DF"/>
                </a:solidFill>
                <a:latin typeface="Tahoma"/>
                <a:cs typeface="Tahoma"/>
              </a:rPr>
              <a:t>LED</a:t>
            </a:r>
            <a:r>
              <a:rPr dirty="0" sz="1650" spc="-16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Expressions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Dynamic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emotional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display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886325" y="2524124"/>
            <a:ext cx="5943600" cy="1009650"/>
            <a:chOff x="4886325" y="2524124"/>
            <a:chExt cx="5943600" cy="1009650"/>
          </a:xfrm>
        </p:grpSpPr>
        <p:sp>
          <p:nvSpPr>
            <p:cNvPr id="9" name="object 9" descr="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0"/>
                  </a:lnTo>
                  <a:lnTo>
                    <a:pt x="0" y="948512"/>
                  </a:lnTo>
                  <a:lnTo>
                    <a:pt x="18745" y="986510"/>
                  </a:lnTo>
                  <a:lnTo>
                    <a:pt x="51612" y="1000125"/>
                  </a:lnTo>
                  <a:lnTo>
                    <a:pt x="5882462" y="1000125"/>
                  </a:lnTo>
                  <a:lnTo>
                    <a:pt x="5920460" y="981379"/>
                  </a:lnTo>
                  <a:lnTo>
                    <a:pt x="5934075" y="948512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891087" y="2528887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0"/>
                  </a:lnTo>
                  <a:lnTo>
                    <a:pt x="5934075" y="948512"/>
                  </a:lnTo>
                  <a:lnTo>
                    <a:pt x="5933719" y="952093"/>
                  </a:lnTo>
                  <a:lnTo>
                    <a:pt x="5933008" y="955662"/>
                  </a:lnTo>
                  <a:lnTo>
                    <a:pt x="5932309" y="959218"/>
                  </a:lnTo>
                  <a:lnTo>
                    <a:pt x="5917895" y="983945"/>
                  </a:lnTo>
                  <a:lnTo>
                    <a:pt x="5915329" y="986510"/>
                  </a:lnTo>
                  <a:lnTo>
                    <a:pt x="5889599" y="999058"/>
                  </a:lnTo>
                  <a:lnTo>
                    <a:pt x="5886043" y="999769"/>
                  </a:lnTo>
                  <a:lnTo>
                    <a:pt x="5882462" y="1000125"/>
                  </a:lnTo>
                  <a:lnTo>
                    <a:pt x="5878830" y="1000125"/>
                  </a:lnTo>
                  <a:lnTo>
                    <a:pt x="55245" y="1000125"/>
                  </a:lnTo>
                  <a:lnTo>
                    <a:pt x="51612" y="1000125"/>
                  </a:lnTo>
                  <a:lnTo>
                    <a:pt x="48018" y="999769"/>
                  </a:lnTo>
                  <a:lnTo>
                    <a:pt x="44462" y="999058"/>
                  </a:lnTo>
                  <a:lnTo>
                    <a:pt x="40906" y="998359"/>
                  </a:lnTo>
                  <a:lnTo>
                    <a:pt x="9309" y="975563"/>
                  </a:lnTo>
                  <a:lnTo>
                    <a:pt x="7289" y="972553"/>
                  </a:lnTo>
                  <a:lnTo>
                    <a:pt x="1066" y="955662"/>
                  </a:lnTo>
                  <a:lnTo>
                    <a:pt x="355" y="952093"/>
                  </a:lnTo>
                  <a:lnTo>
                    <a:pt x="0" y="948512"/>
                  </a:lnTo>
                  <a:lnTo>
                    <a:pt x="0" y="94488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5054600" y="2687637"/>
            <a:ext cx="254317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 b="1">
                <a:solidFill>
                  <a:srgbClr val="E5E0DF"/>
                </a:solidFill>
                <a:latin typeface="Tahoma"/>
                <a:cs typeface="Tahoma"/>
              </a:rPr>
              <a:t>Interactive</a:t>
            </a:r>
            <a:r>
              <a:rPr dirty="0" sz="1650" spc="-9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Reactions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Responds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hugs,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waves,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E5E0DF"/>
                </a:solidFill>
                <a:latin typeface="Verdana"/>
                <a:cs typeface="Verdana"/>
              </a:rPr>
              <a:t>tones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886325" y="3705225"/>
            <a:ext cx="5943600" cy="1000125"/>
            <a:chOff x="4886325" y="3705225"/>
            <a:chExt cx="5943600" cy="1000125"/>
          </a:xfrm>
        </p:grpSpPr>
        <p:sp>
          <p:nvSpPr>
            <p:cNvPr id="13" name="object 13" descr="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35355"/>
                  </a:lnTo>
                  <a:lnTo>
                    <a:pt x="0" y="938987"/>
                  </a:lnTo>
                  <a:lnTo>
                    <a:pt x="18745" y="976985"/>
                  </a:lnTo>
                  <a:lnTo>
                    <a:pt x="51612" y="990600"/>
                  </a:lnTo>
                  <a:lnTo>
                    <a:pt x="5882462" y="990600"/>
                  </a:lnTo>
                  <a:lnTo>
                    <a:pt x="5920460" y="971854"/>
                  </a:lnTo>
                  <a:lnTo>
                    <a:pt x="5934075" y="93898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91087" y="3709987"/>
              <a:ext cx="5934075" cy="990600"/>
            </a:xfrm>
            <a:custGeom>
              <a:avLst/>
              <a:gdLst/>
              <a:ahLst/>
              <a:cxnLst/>
              <a:rect l="l" t="t" r="r" b="b"/>
              <a:pathLst>
                <a:path w="5934075" h="990600">
                  <a:moveTo>
                    <a:pt x="0" y="9353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35355"/>
                  </a:lnTo>
                  <a:lnTo>
                    <a:pt x="5934075" y="938987"/>
                  </a:lnTo>
                  <a:lnTo>
                    <a:pt x="5933719" y="942568"/>
                  </a:lnTo>
                  <a:lnTo>
                    <a:pt x="5933008" y="946137"/>
                  </a:lnTo>
                  <a:lnTo>
                    <a:pt x="5932309" y="949693"/>
                  </a:lnTo>
                  <a:lnTo>
                    <a:pt x="5917895" y="974420"/>
                  </a:lnTo>
                  <a:lnTo>
                    <a:pt x="5915329" y="976985"/>
                  </a:lnTo>
                  <a:lnTo>
                    <a:pt x="5889599" y="989533"/>
                  </a:lnTo>
                  <a:lnTo>
                    <a:pt x="5886043" y="990244"/>
                  </a:lnTo>
                  <a:lnTo>
                    <a:pt x="5882462" y="990600"/>
                  </a:lnTo>
                  <a:lnTo>
                    <a:pt x="5878830" y="990600"/>
                  </a:lnTo>
                  <a:lnTo>
                    <a:pt x="55245" y="990600"/>
                  </a:lnTo>
                  <a:lnTo>
                    <a:pt x="51612" y="990600"/>
                  </a:lnTo>
                  <a:lnTo>
                    <a:pt x="48018" y="990244"/>
                  </a:lnTo>
                  <a:lnTo>
                    <a:pt x="44462" y="989533"/>
                  </a:lnTo>
                  <a:lnTo>
                    <a:pt x="40906" y="988834"/>
                  </a:lnTo>
                  <a:lnTo>
                    <a:pt x="9309" y="966038"/>
                  </a:lnTo>
                  <a:lnTo>
                    <a:pt x="7289" y="963028"/>
                  </a:lnTo>
                  <a:lnTo>
                    <a:pt x="1066" y="946137"/>
                  </a:lnTo>
                  <a:lnTo>
                    <a:pt x="355" y="942568"/>
                  </a:lnTo>
                  <a:lnTo>
                    <a:pt x="0" y="938987"/>
                  </a:lnTo>
                  <a:lnTo>
                    <a:pt x="0" y="9353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054600" y="3868737"/>
            <a:ext cx="218122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Personality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Playful,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curious,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brave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traits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4886325" y="4876800"/>
            <a:ext cx="5943600" cy="1009650"/>
            <a:chOff x="4886325" y="4876800"/>
            <a:chExt cx="5943600" cy="1009650"/>
          </a:xfrm>
        </p:grpSpPr>
        <p:sp>
          <p:nvSpPr>
            <p:cNvPr id="17" name="object 17" descr="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588246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944881"/>
                  </a:lnTo>
                  <a:lnTo>
                    <a:pt x="0" y="948507"/>
                  </a:lnTo>
                  <a:lnTo>
                    <a:pt x="18745" y="986508"/>
                  </a:lnTo>
                  <a:lnTo>
                    <a:pt x="51612" y="1000126"/>
                  </a:lnTo>
                  <a:lnTo>
                    <a:pt x="5882462" y="1000126"/>
                  </a:lnTo>
                  <a:lnTo>
                    <a:pt x="5920460" y="981378"/>
                  </a:lnTo>
                  <a:lnTo>
                    <a:pt x="5934075" y="948507"/>
                  </a:lnTo>
                  <a:lnTo>
                    <a:pt x="5934075" y="51612"/>
                  </a:lnTo>
                  <a:lnTo>
                    <a:pt x="5915329" y="13614"/>
                  </a:lnTo>
                  <a:lnTo>
                    <a:pt x="5886043" y="355"/>
                  </a:lnTo>
                  <a:lnTo>
                    <a:pt x="5882462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891087" y="4881562"/>
              <a:ext cx="5934075" cy="1000125"/>
            </a:xfrm>
            <a:custGeom>
              <a:avLst/>
              <a:gdLst/>
              <a:ahLst/>
              <a:cxnLst/>
              <a:rect l="l" t="t" r="r" b="b"/>
              <a:pathLst>
                <a:path w="5934075" h="1000125">
                  <a:moveTo>
                    <a:pt x="0" y="944881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5878830" y="0"/>
                  </a:lnTo>
                  <a:lnTo>
                    <a:pt x="5882462" y="0"/>
                  </a:lnTo>
                  <a:lnTo>
                    <a:pt x="5886043" y="355"/>
                  </a:lnTo>
                  <a:lnTo>
                    <a:pt x="5889599" y="1066"/>
                  </a:lnTo>
                  <a:lnTo>
                    <a:pt x="5893168" y="1765"/>
                  </a:lnTo>
                  <a:lnTo>
                    <a:pt x="5896622" y="2819"/>
                  </a:lnTo>
                  <a:lnTo>
                    <a:pt x="5899962" y="4203"/>
                  </a:lnTo>
                  <a:lnTo>
                    <a:pt x="5903328" y="5588"/>
                  </a:lnTo>
                  <a:lnTo>
                    <a:pt x="5906503" y="7289"/>
                  </a:lnTo>
                  <a:lnTo>
                    <a:pt x="5909513" y="9309"/>
                  </a:lnTo>
                  <a:lnTo>
                    <a:pt x="5912535" y="11328"/>
                  </a:lnTo>
                  <a:lnTo>
                    <a:pt x="5915329" y="13614"/>
                  </a:lnTo>
                  <a:lnTo>
                    <a:pt x="5917895" y="16179"/>
                  </a:lnTo>
                  <a:lnTo>
                    <a:pt x="5920460" y="18745"/>
                  </a:lnTo>
                  <a:lnTo>
                    <a:pt x="5933008" y="44462"/>
                  </a:lnTo>
                  <a:lnTo>
                    <a:pt x="5933719" y="48018"/>
                  </a:lnTo>
                  <a:lnTo>
                    <a:pt x="5934075" y="51612"/>
                  </a:lnTo>
                  <a:lnTo>
                    <a:pt x="5934075" y="55245"/>
                  </a:lnTo>
                  <a:lnTo>
                    <a:pt x="5934075" y="944881"/>
                  </a:lnTo>
                  <a:lnTo>
                    <a:pt x="5934075" y="948507"/>
                  </a:lnTo>
                  <a:lnTo>
                    <a:pt x="5933719" y="952098"/>
                  </a:lnTo>
                  <a:lnTo>
                    <a:pt x="5933008" y="955655"/>
                  </a:lnTo>
                  <a:lnTo>
                    <a:pt x="5932309" y="959213"/>
                  </a:lnTo>
                  <a:lnTo>
                    <a:pt x="5909513" y="990814"/>
                  </a:lnTo>
                  <a:lnTo>
                    <a:pt x="5906503" y="992828"/>
                  </a:lnTo>
                  <a:lnTo>
                    <a:pt x="5903328" y="994530"/>
                  </a:lnTo>
                  <a:lnTo>
                    <a:pt x="5899962" y="995918"/>
                  </a:lnTo>
                  <a:lnTo>
                    <a:pt x="5896622" y="997308"/>
                  </a:lnTo>
                  <a:lnTo>
                    <a:pt x="5893168" y="998354"/>
                  </a:lnTo>
                  <a:lnTo>
                    <a:pt x="5889599" y="999064"/>
                  </a:lnTo>
                  <a:lnTo>
                    <a:pt x="5886043" y="999769"/>
                  </a:lnTo>
                  <a:lnTo>
                    <a:pt x="5882462" y="1000126"/>
                  </a:lnTo>
                  <a:lnTo>
                    <a:pt x="5878830" y="1000126"/>
                  </a:lnTo>
                  <a:lnTo>
                    <a:pt x="55245" y="1000126"/>
                  </a:lnTo>
                  <a:lnTo>
                    <a:pt x="51612" y="1000126"/>
                  </a:lnTo>
                  <a:lnTo>
                    <a:pt x="48018" y="999769"/>
                  </a:lnTo>
                  <a:lnTo>
                    <a:pt x="44462" y="999064"/>
                  </a:lnTo>
                  <a:lnTo>
                    <a:pt x="40906" y="998354"/>
                  </a:lnTo>
                  <a:lnTo>
                    <a:pt x="37452" y="997308"/>
                  </a:lnTo>
                  <a:lnTo>
                    <a:pt x="34099" y="995918"/>
                  </a:lnTo>
                  <a:lnTo>
                    <a:pt x="30746" y="994530"/>
                  </a:lnTo>
                  <a:lnTo>
                    <a:pt x="4203" y="966019"/>
                  </a:lnTo>
                  <a:lnTo>
                    <a:pt x="1066" y="955655"/>
                  </a:lnTo>
                  <a:lnTo>
                    <a:pt x="355" y="952098"/>
                  </a:lnTo>
                  <a:lnTo>
                    <a:pt x="0" y="948507"/>
                  </a:lnTo>
                  <a:lnTo>
                    <a:pt x="0" y="944881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054600" y="5040313"/>
            <a:ext cx="235204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0" b="1">
                <a:solidFill>
                  <a:srgbClr val="E5E0DF"/>
                </a:solidFill>
                <a:latin typeface="Tahoma"/>
                <a:cs typeface="Tahoma"/>
              </a:rPr>
              <a:t>Joint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Design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AI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experts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&amp;</a:t>
            </a: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Disney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animators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20" name="object 20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73625" y="1254125"/>
            <a:ext cx="590423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30"/>
              <a:t>The</a:t>
            </a:r>
            <a:r>
              <a:rPr dirty="0" spc="-360"/>
              <a:t> </a:t>
            </a:r>
            <a:r>
              <a:rPr dirty="0" spc="-180"/>
              <a:t>Future</a:t>
            </a:r>
            <a:r>
              <a:rPr dirty="0" spc="-355"/>
              <a:t> </a:t>
            </a:r>
            <a:r>
              <a:rPr dirty="0" spc="-30"/>
              <a:t>of</a:t>
            </a:r>
            <a:r>
              <a:rPr dirty="0" spc="-355"/>
              <a:t> </a:t>
            </a:r>
            <a:r>
              <a:rPr dirty="0" spc="-120"/>
              <a:t>Robotics</a:t>
            </a:r>
            <a:r>
              <a:rPr dirty="0" spc="-355"/>
              <a:t> </a:t>
            </a:r>
            <a:r>
              <a:rPr dirty="0" spc="-35"/>
              <a:t>is</a:t>
            </a:r>
            <a:r>
              <a:rPr dirty="0" spc="-355"/>
              <a:t> </a:t>
            </a:r>
            <a:r>
              <a:rPr dirty="0" spc="-30"/>
              <a:t>Now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4880927" y="2071052"/>
            <a:ext cx="868044" cy="1039494"/>
            <a:chOff x="4880927" y="2071052"/>
            <a:chExt cx="868044" cy="1039494"/>
          </a:xfrm>
        </p:grpSpPr>
        <p:sp>
          <p:nvSpPr>
            <p:cNvPr id="5" name="object 5" descr=""/>
            <p:cNvSpPr/>
            <p:nvPr/>
          </p:nvSpPr>
          <p:spPr>
            <a:xfrm>
              <a:off x="4886325" y="20764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86325" y="20764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250611" y="2406650"/>
            <a:ext cx="1365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459" b="1">
                <a:solidFill>
                  <a:srgbClr val="E5E0DF"/>
                </a:solidFill>
                <a:latin typeface="Tahoma"/>
                <a:cs typeface="Tahoma"/>
              </a:rPr>
              <a:t>1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88055" y="2230437"/>
            <a:ext cx="2015489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 b="1">
                <a:solidFill>
                  <a:srgbClr val="E5E0DF"/>
                </a:solidFill>
                <a:latin typeface="Tahoma"/>
                <a:cs typeface="Tahoma"/>
              </a:rPr>
              <a:t>BLUE</a:t>
            </a:r>
            <a:r>
              <a:rPr dirty="0" sz="1650" spc="-16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Debuts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First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step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to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lifelike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880927" y="3099752"/>
            <a:ext cx="868044" cy="1039494"/>
            <a:chOff x="4880927" y="3099752"/>
            <a:chExt cx="868044" cy="1039494"/>
          </a:xfrm>
        </p:grpSpPr>
        <p:sp>
          <p:nvSpPr>
            <p:cNvPr id="10" name="object 10" descr=""/>
            <p:cNvSpPr/>
            <p:nvPr/>
          </p:nvSpPr>
          <p:spPr>
            <a:xfrm>
              <a:off x="4886325" y="3105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886325" y="3105149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225160" y="3435350"/>
            <a:ext cx="18732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E5E0DF"/>
                </a:solidFill>
                <a:latin typeface="Tahoma"/>
                <a:cs typeface="Tahoma"/>
              </a:rPr>
              <a:t>2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988053" y="3259137"/>
            <a:ext cx="209550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80" b="1">
                <a:solidFill>
                  <a:srgbClr val="E5E0DF"/>
                </a:solidFill>
                <a:latin typeface="Tahoma"/>
                <a:cs typeface="Tahoma"/>
              </a:rPr>
              <a:t>Isaac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GR00T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New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humanoid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platform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4880967" y="4128492"/>
            <a:ext cx="868044" cy="1039494"/>
            <a:chOff x="4880967" y="4128492"/>
            <a:chExt cx="868044" cy="1039494"/>
          </a:xfrm>
        </p:grpSpPr>
        <p:sp>
          <p:nvSpPr>
            <p:cNvPr id="15" name="object 15" descr=""/>
            <p:cNvSpPr/>
            <p:nvPr/>
          </p:nvSpPr>
          <p:spPr>
            <a:xfrm>
              <a:off x="4886325" y="413385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857250" y="0"/>
                  </a:move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886325" y="4133850"/>
              <a:ext cx="857250" cy="1028700"/>
            </a:xfrm>
            <a:custGeom>
              <a:avLst/>
              <a:gdLst/>
              <a:ahLst/>
              <a:cxnLst/>
              <a:rect l="l" t="t" r="r" b="b"/>
              <a:pathLst>
                <a:path w="857250" h="1028700">
                  <a:moveTo>
                    <a:pt x="0" y="857250"/>
                  </a:moveTo>
                  <a:lnTo>
                    <a:pt x="428625" y="1028700"/>
                  </a:lnTo>
                  <a:lnTo>
                    <a:pt x="857250" y="857250"/>
                  </a:lnTo>
                  <a:lnTo>
                    <a:pt x="857250" y="0"/>
                  </a:lnTo>
                  <a:lnTo>
                    <a:pt x="428625" y="17145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1071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5223078" y="4464050"/>
            <a:ext cx="19177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 b="1">
                <a:solidFill>
                  <a:srgbClr val="E5E0DF"/>
                </a:solidFill>
                <a:latin typeface="Tahoma"/>
                <a:cs typeface="Tahoma"/>
              </a:rPr>
              <a:t>3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88055" y="4287837"/>
            <a:ext cx="270383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 b="1">
                <a:solidFill>
                  <a:srgbClr val="E5E0DF"/>
                </a:solidFill>
                <a:latin typeface="Tahoma"/>
                <a:cs typeface="Tahoma"/>
              </a:rPr>
              <a:t>Open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Source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Empowering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future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5">
                <a:solidFill>
                  <a:srgbClr val="E5E0DF"/>
                </a:solidFill>
                <a:latin typeface="Verdana"/>
                <a:cs typeface="Verdana"/>
              </a:rPr>
              <a:t>robots</a:t>
            </a:r>
            <a:r>
              <a:rPr dirty="0" sz="1350" spc="-9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E5E0DF"/>
                </a:solidFill>
                <a:latin typeface="Verdana"/>
                <a:cs typeface="Verdana"/>
              </a:rPr>
              <a:t>globally</a:t>
            </a:r>
            <a:endParaRPr sz="1350">
              <a:latin typeface="Verdana"/>
              <a:cs typeface="Verdana"/>
            </a:endParaRPr>
          </a:p>
        </p:txBody>
      </p:sp>
      <p:pic>
        <p:nvPicPr>
          <p:cNvPr id="19" name="object 19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143750" y="253"/>
            <a:ext cx="4286250" cy="6438900"/>
            <a:chOff x="7143750" y="253"/>
            <a:chExt cx="4286250" cy="64389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7375" y="1473200"/>
            <a:ext cx="540004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55"/>
              <a:t>Final</a:t>
            </a:r>
            <a:r>
              <a:rPr dirty="0" spc="-350"/>
              <a:t> </a:t>
            </a:r>
            <a:r>
              <a:rPr dirty="0" spc="-105"/>
              <a:t>Thoughts</a:t>
            </a:r>
            <a:r>
              <a:rPr dirty="0" spc="-350"/>
              <a:t> </a:t>
            </a:r>
            <a:r>
              <a:rPr dirty="0" spc="114"/>
              <a:t>-</a:t>
            </a:r>
            <a:r>
              <a:rPr dirty="0" spc="-345"/>
              <a:t> </a:t>
            </a:r>
            <a:r>
              <a:rPr dirty="0" spc="-75"/>
              <a:t>Why</a:t>
            </a:r>
            <a:r>
              <a:rPr dirty="0" spc="-350"/>
              <a:t> </a:t>
            </a:r>
            <a:r>
              <a:rPr dirty="0" spc="-50"/>
              <a:t>BLUE </a:t>
            </a:r>
            <a:r>
              <a:rPr dirty="0" spc="-10"/>
              <a:t>Matters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600075" y="3019424"/>
            <a:ext cx="390525" cy="381000"/>
            <a:chOff x="600075" y="3019424"/>
            <a:chExt cx="390525" cy="381000"/>
          </a:xfrm>
        </p:grpSpPr>
        <p:sp>
          <p:nvSpPr>
            <p:cNvPr id="7" name="object 7" descr=""/>
            <p:cNvSpPr/>
            <p:nvPr/>
          </p:nvSpPr>
          <p:spPr>
            <a:xfrm>
              <a:off x="60483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7" y="357860"/>
                  </a:lnTo>
                  <a:lnTo>
                    <a:pt x="51619" y="371475"/>
                  </a:lnTo>
                  <a:lnTo>
                    <a:pt x="329380" y="371475"/>
                  </a:lnTo>
                  <a:lnTo>
                    <a:pt x="367381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04837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8" y="323443"/>
                  </a:lnTo>
                  <a:lnTo>
                    <a:pt x="371688" y="346913"/>
                  </a:lnTo>
                  <a:lnTo>
                    <a:pt x="369674" y="349935"/>
                  </a:lnTo>
                  <a:lnTo>
                    <a:pt x="336529" y="370408"/>
                  </a:lnTo>
                  <a:lnTo>
                    <a:pt x="332973" y="371119"/>
                  </a:lnTo>
                  <a:lnTo>
                    <a:pt x="329380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9" y="371475"/>
                  </a:lnTo>
                  <a:lnTo>
                    <a:pt x="48026" y="371119"/>
                  </a:lnTo>
                  <a:lnTo>
                    <a:pt x="44465" y="370408"/>
                  </a:lnTo>
                  <a:lnTo>
                    <a:pt x="40907" y="369709"/>
                  </a:lnTo>
                  <a:lnTo>
                    <a:pt x="9311" y="346913"/>
                  </a:lnTo>
                  <a:lnTo>
                    <a:pt x="7292" y="343903"/>
                  </a:lnTo>
                  <a:lnTo>
                    <a:pt x="5590" y="340728"/>
                  </a:lnTo>
                  <a:lnTo>
                    <a:pt x="4207" y="337375"/>
                  </a:lnTo>
                  <a:lnTo>
                    <a:pt x="2818" y="334022"/>
                  </a:lnTo>
                  <a:lnTo>
                    <a:pt x="1771" y="330568"/>
                  </a:lnTo>
                  <a:lnTo>
                    <a:pt x="1061" y="327012"/>
                  </a:lnTo>
                  <a:lnTo>
                    <a:pt x="351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144587" y="3001962"/>
            <a:ext cx="1896745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20" b="1">
                <a:solidFill>
                  <a:srgbClr val="E5E0DF"/>
                </a:solidFill>
                <a:latin typeface="Tahoma"/>
                <a:cs typeface="Tahoma"/>
              </a:rPr>
              <a:t>Tech</a:t>
            </a:r>
            <a:r>
              <a:rPr dirty="0" sz="1650" spc="-15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Fusion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AI</a:t>
            </a:r>
            <a:r>
              <a:rPr dirty="0" sz="1350" spc="-13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15">
                <a:solidFill>
                  <a:srgbClr val="E5E0DF"/>
                </a:solidFill>
                <a:latin typeface="Verdana"/>
                <a:cs typeface="Verdana"/>
              </a:rPr>
              <a:t>+</a:t>
            </a:r>
            <a:r>
              <a:rPr dirty="0" sz="1350" spc="-13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0">
                <a:solidFill>
                  <a:srgbClr val="E5E0DF"/>
                </a:solidFill>
                <a:latin typeface="Verdana"/>
                <a:cs typeface="Verdana"/>
              </a:rPr>
              <a:t>Robotics</a:t>
            </a:r>
            <a:r>
              <a:rPr dirty="0" sz="1350" spc="-13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15">
                <a:solidFill>
                  <a:srgbClr val="E5E0DF"/>
                </a:solidFill>
                <a:latin typeface="Verdana"/>
                <a:cs typeface="Verdana"/>
              </a:rPr>
              <a:t>+</a:t>
            </a:r>
            <a:r>
              <a:rPr dirty="0" sz="1350" spc="-12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70">
                <a:solidFill>
                  <a:srgbClr val="E5E0DF"/>
                </a:solidFill>
                <a:latin typeface="Verdana"/>
                <a:cs typeface="Verdana"/>
              </a:rPr>
              <a:t>Emotion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657600" y="3019424"/>
            <a:ext cx="390525" cy="381000"/>
            <a:chOff x="3657600" y="3019424"/>
            <a:chExt cx="390525" cy="381000"/>
          </a:xfrm>
        </p:grpSpPr>
        <p:sp>
          <p:nvSpPr>
            <p:cNvPr id="11" name="object 11" descr=""/>
            <p:cNvSpPr/>
            <p:nvPr/>
          </p:nvSpPr>
          <p:spPr>
            <a:xfrm>
              <a:off x="366236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329387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316230"/>
                  </a:lnTo>
                  <a:lnTo>
                    <a:pt x="0" y="319862"/>
                  </a:lnTo>
                  <a:lnTo>
                    <a:pt x="18745" y="357860"/>
                  </a:lnTo>
                  <a:lnTo>
                    <a:pt x="51612" y="371475"/>
                  </a:lnTo>
                  <a:lnTo>
                    <a:pt x="329387" y="371475"/>
                  </a:lnTo>
                  <a:lnTo>
                    <a:pt x="367385" y="352729"/>
                  </a:lnTo>
                  <a:lnTo>
                    <a:pt x="381000" y="319862"/>
                  </a:lnTo>
                  <a:lnTo>
                    <a:pt x="381000" y="51612"/>
                  </a:lnTo>
                  <a:lnTo>
                    <a:pt x="362254" y="13614"/>
                  </a:lnTo>
                  <a:lnTo>
                    <a:pt x="332968" y="355"/>
                  </a:lnTo>
                  <a:lnTo>
                    <a:pt x="329387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662362" y="3024187"/>
              <a:ext cx="381000" cy="371475"/>
            </a:xfrm>
            <a:custGeom>
              <a:avLst/>
              <a:gdLst/>
              <a:ahLst/>
              <a:cxnLst/>
              <a:rect l="l" t="t" r="r" b="b"/>
              <a:pathLst>
                <a:path w="381000" h="371475">
                  <a:moveTo>
                    <a:pt x="0" y="3162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7" y="0"/>
                  </a:lnTo>
                  <a:lnTo>
                    <a:pt x="332968" y="355"/>
                  </a:lnTo>
                  <a:lnTo>
                    <a:pt x="336537" y="1066"/>
                  </a:lnTo>
                  <a:lnTo>
                    <a:pt x="340093" y="1765"/>
                  </a:lnTo>
                  <a:lnTo>
                    <a:pt x="371690" y="24549"/>
                  </a:lnTo>
                  <a:lnTo>
                    <a:pt x="379933" y="44462"/>
                  </a:lnTo>
                  <a:lnTo>
                    <a:pt x="380644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16230"/>
                  </a:lnTo>
                  <a:lnTo>
                    <a:pt x="381000" y="319862"/>
                  </a:lnTo>
                  <a:lnTo>
                    <a:pt x="380644" y="323443"/>
                  </a:lnTo>
                  <a:lnTo>
                    <a:pt x="379933" y="327012"/>
                  </a:lnTo>
                  <a:lnTo>
                    <a:pt x="379234" y="330568"/>
                  </a:lnTo>
                  <a:lnTo>
                    <a:pt x="356450" y="362165"/>
                  </a:lnTo>
                  <a:lnTo>
                    <a:pt x="336524" y="370408"/>
                  </a:lnTo>
                  <a:lnTo>
                    <a:pt x="332968" y="371119"/>
                  </a:lnTo>
                  <a:lnTo>
                    <a:pt x="329387" y="371475"/>
                  </a:lnTo>
                  <a:lnTo>
                    <a:pt x="325755" y="371475"/>
                  </a:lnTo>
                  <a:lnTo>
                    <a:pt x="55245" y="371475"/>
                  </a:lnTo>
                  <a:lnTo>
                    <a:pt x="51612" y="371475"/>
                  </a:lnTo>
                  <a:lnTo>
                    <a:pt x="48018" y="371119"/>
                  </a:lnTo>
                  <a:lnTo>
                    <a:pt x="44462" y="370408"/>
                  </a:lnTo>
                  <a:lnTo>
                    <a:pt x="40906" y="369709"/>
                  </a:lnTo>
                  <a:lnTo>
                    <a:pt x="9309" y="346913"/>
                  </a:lnTo>
                  <a:lnTo>
                    <a:pt x="7289" y="343903"/>
                  </a:lnTo>
                  <a:lnTo>
                    <a:pt x="1066" y="327012"/>
                  </a:lnTo>
                  <a:lnTo>
                    <a:pt x="355" y="323443"/>
                  </a:lnTo>
                  <a:lnTo>
                    <a:pt x="0" y="319862"/>
                  </a:lnTo>
                  <a:lnTo>
                    <a:pt x="0" y="316230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4202112" y="3001962"/>
            <a:ext cx="2051685" cy="8934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 b="1">
                <a:solidFill>
                  <a:srgbClr val="E5E0DF"/>
                </a:solidFill>
                <a:latin typeface="Tahoma"/>
                <a:cs typeface="Tahoma"/>
              </a:rPr>
              <a:t>More</a:t>
            </a:r>
            <a:r>
              <a:rPr dirty="0" sz="1650" spc="-160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70" b="1">
                <a:solidFill>
                  <a:srgbClr val="E5E0DF"/>
                </a:solidFill>
                <a:latin typeface="Tahoma"/>
                <a:cs typeface="Tahoma"/>
              </a:rPr>
              <a:t>than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Machines</a:t>
            </a:r>
            <a:endParaRPr sz="1650">
              <a:latin typeface="Tahoma"/>
              <a:cs typeface="Tahoma"/>
            </a:endParaRPr>
          </a:p>
          <a:p>
            <a:pPr marL="12700" marR="307340">
              <a:lnSpc>
                <a:spcPct val="129600"/>
              </a:lnSpc>
              <a:spcBef>
                <a:spcPts val="615"/>
              </a:spcBef>
            </a:pPr>
            <a:r>
              <a:rPr dirty="0" sz="1350" spc="-50">
                <a:solidFill>
                  <a:srgbClr val="E5E0DF"/>
                </a:solidFill>
                <a:latin typeface="Verdana"/>
                <a:cs typeface="Verdana"/>
              </a:rPr>
              <a:t>BLUE</a:t>
            </a:r>
            <a:r>
              <a:rPr dirty="0" sz="1350" spc="-12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5E0DF"/>
                </a:solidFill>
                <a:latin typeface="Verdana"/>
                <a:cs typeface="Verdana"/>
              </a:rPr>
              <a:t>is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65">
                <a:solidFill>
                  <a:srgbClr val="E5E0DF"/>
                </a:solidFill>
                <a:latin typeface="Verdana"/>
                <a:cs typeface="Verdana"/>
              </a:rPr>
              <a:t>character</a:t>
            </a:r>
            <a:r>
              <a:rPr dirty="0" sz="1350" spc="-114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45">
                <a:solidFill>
                  <a:srgbClr val="E5E0DF"/>
                </a:solidFill>
                <a:latin typeface="Verdana"/>
                <a:cs typeface="Verdana"/>
              </a:rPr>
              <a:t>and </a:t>
            </a:r>
            <a:r>
              <a:rPr dirty="0" sz="1350" spc="-10">
                <a:solidFill>
                  <a:srgbClr val="E5E0DF"/>
                </a:solidFill>
                <a:latin typeface="Verdana"/>
                <a:cs typeface="Verdana"/>
              </a:rPr>
              <a:t>companion</a:t>
            </a:r>
            <a:endParaRPr sz="135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00075" y="4295775"/>
            <a:ext cx="390525" cy="390525"/>
            <a:chOff x="600075" y="4295775"/>
            <a:chExt cx="390525" cy="390525"/>
          </a:xfrm>
        </p:grpSpPr>
        <p:sp>
          <p:nvSpPr>
            <p:cNvPr id="15" name="object 15" descr="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29380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325755"/>
                  </a:lnTo>
                  <a:lnTo>
                    <a:pt x="0" y="329387"/>
                  </a:lnTo>
                  <a:lnTo>
                    <a:pt x="18747" y="367385"/>
                  </a:lnTo>
                  <a:lnTo>
                    <a:pt x="51619" y="381000"/>
                  </a:lnTo>
                  <a:lnTo>
                    <a:pt x="329380" y="381000"/>
                  </a:lnTo>
                  <a:lnTo>
                    <a:pt x="367381" y="362254"/>
                  </a:lnTo>
                  <a:lnTo>
                    <a:pt x="381000" y="329387"/>
                  </a:lnTo>
                  <a:lnTo>
                    <a:pt x="381000" y="51612"/>
                  </a:lnTo>
                  <a:lnTo>
                    <a:pt x="362252" y="13614"/>
                  </a:lnTo>
                  <a:lnTo>
                    <a:pt x="332973" y="355"/>
                  </a:lnTo>
                  <a:lnTo>
                    <a:pt x="329380" y="0"/>
                  </a:lnTo>
                  <a:close/>
                </a:path>
              </a:pathLst>
            </a:custGeom>
            <a:solidFill>
              <a:srgbClr val="1000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04837" y="430053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25755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7292" y="27571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5755" y="0"/>
                  </a:lnTo>
                  <a:lnTo>
                    <a:pt x="329380" y="0"/>
                  </a:lnTo>
                  <a:lnTo>
                    <a:pt x="332973" y="355"/>
                  </a:lnTo>
                  <a:lnTo>
                    <a:pt x="336529" y="1066"/>
                  </a:lnTo>
                  <a:lnTo>
                    <a:pt x="340092" y="1765"/>
                  </a:lnTo>
                  <a:lnTo>
                    <a:pt x="356448" y="9309"/>
                  </a:lnTo>
                  <a:lnTo>
                    <a:pt x="359464" y="11328"/>
                  </a:lnTo>
                  <a:lnTo>
                    <a:pt x="379938" y="44462"/>
                  </a:lnTo>
                  <a:lnTo>
                    <a:pt x="380648" y="48018"/>
                  </a:lnTo>
                  <a:lnTo>
                    <a:pt x="381000" y="51612"/>
                  </a:lnTo>
                  <a:lnTo>
                    <a:pt x="381000" y="55245"/>
                  </a:lnTo>
                  <a:lnTo>
                    <a:pt x="381000" y="325755"/>
                  </a:lnTo>
                  <a:lnTo>
                    <a:pt x="381000" y="329387"/>
                  </a:lnTo>
                  <a:lnTo>
                    <a:pt x="380648" y="332968"/>
                  </a:lnTo>
                  <a:lnTo>
                    <a:pt x="371688" y="356438"/>
                  </a:lnTo>
                  <a:lnTo>
                    <a:pt x="369674" y="359460"/>
                  </a:lnTo>
                  <a:lnTo>
                    <a:pt x="336529" y="379933"/>
                  </a:lnTo>
                  <a:lnTo>
                    <a:pt x="332973" y="380644"/>
                  </a:lnTo>
                  <a:lnTo>
                    <a:pt x="329380" y="381000"/>
                  </a:lnTo>
                  <a:lnTo>
                    <a:pt x="325755" y="381000"/>
                  </a:lnTo>
                  <a:lnTo>
                    <a:pt x="55245" y="381000"/>
                  </a:lnTo>
                  <a:lnTo>
                    <a:pt x="51619" y="381000"/>
                  </a:lnTo>
                  <a:lnTo>
                    <a:pt x="48026" y="380644"/>
                  </a:lnTo>
                  <a:lnTo>
                    <a:pt x="44465" y="379933"/>
                  </a:lnTo>
                  <a:lnTo>
                    <a:pt x="40907" y="379234"/>
                  </a:lnTo>
                  <a:lnTo>
                    <a:pt x="9311" y="356438"/>
                  </a:lnTo>
                  <a:lnTo>
                    <a:pt x="7292" y="353428"/>
                  </a:lnTo>
                  <a:lnTo>
                    <a:pt x="5590" y="350253"/>
                  </a:lnTo>
                  <a:lnTo>
                    <a:pt x="4207" y="346900"/>
                  </a:lnTo>
                  <a:lnTo>
                    <a:pt x="2818" y="343547"/>
                  </a:lnTo>
                  <a:lnTo>
                    <a:pt x="1771" y="340093"/>
                  </a:lnTo>
                  <a:lnTo>
                    <a:pt x="1061" y="336537"/>
                  </a:lnTo>
                  <a:lnTo>
                    <a:pt x="351" y="332968"/>
                  </a:lnTo>
                  <a:lnTo>
                    <a:pt x="0" y="329387"/>
                  </a:lnTo>
                  <a:lnTo>
                    <a:pt x="0" y="325755"/>
                  </a:lnTo>
                  <a:close/>
                </a:path>
              </a:pathLst>
            </a:custGeom>
            <a:ln w="9525">
              <a:solidFill>
                <a:srgbClr val="2A189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1144587" y="4278312"/>
            <a:ext cx="2298700" cy="6267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Sci-</a:t>
            </a:r>
            <a:r>
              <a:rPr dirty="0" sz="1650" spc="-50" b="1">
                <a:solidFill>
                  <a:srgbClr val="E5E0DF"/>
                </a:solidFill>
                <a:latin typeface="Tahoma"/>
                <a:cs typeface="Tahoma"/>
              </a:rPr>
              <a:t>Fi</a:t>
            </a:r>
            <a:r>
              <a:rPr dirty="0" sz="1650" spc="-155" b="1">
                <a:solidFill>
                  <a:srgbClr val="E5E0DF"/>
                </a:solidFill>
                <a:latin typeface="Tahoma"/>
                <a:cs typeface="Tahoma"/>
              </a:rPr>
              <a:t> </a:t>
            </a:r>
            <a:r>
              <a:rPr dirty="0" sz="1650" spc="-10" b="1">
                <a:solidFill>
                  <a:srgbClr val="E5E0DF"/>
                </a:solidFill>
                <a:latin typeface="Tahoma"/>
                <a:cs typeface="Tahoma"/>
              </a:rPr>
              <a:t>Reality</a:t>
            </a:r>
            <a:endParaRPr sz="1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350" spc="-85">
                <a:solidFill>
                  <a:srgbClr val="E5E0DF"/>
                </a:solidFill>
                <a:latin typeface="Verdana"/>
                <a:cs typeface="Verdana"/>
              </a:rPr>
              <a:t>Turning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dreams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E5E0DF"/>
                </a:solidFill>
                <a:latin typeface="Verdana"/>
                <a:cs typeface="Verdana"/>
              </a:rPr>
              <a:t>into</a:t>
            </a:r>
            <a:r>
              <a:rPr dirty="0" sz="1350" spc="-110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80">
                <a:solidFill>
                  <a:srgbClr val="E5E0DF"/>
                </a:solidFill>
                <a:latin typeface="Verdana"/>
                <a:cs typeface="Verdana"/>
              </a:rPr>
              <a:t>real</a:t>
            </a:r>
            <a:r>
              <a:rPr dirty="0" sz="1350" spc="-105">
                <a:solidFill>
                  <a:srgbClr val="E5E0DF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E5E0DF"/>
                </a:solidFill>
                <a:latin typeface="Verdana"/>
                <a:cs typeface="Verdana"/>
              </a:rPr>
              <a:t>tech</a:t>
            </a:r>
            <a:endParaRPr sz="13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2025-04-27T03:59:27Z</dcterms:created>
  <dcterms:modified xsi:type="dcterms:W3CDTF">2025-04-27T03:59:27Z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2025-04-22T00:00:00Z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2025-04-27T00:00:00Z</vt:filetime>
  </property>
  <property fmtid="{D5CDD505-2E9C-101B-9397-08002B2CF9AE}" pid="5" name="Producer">
    <vt:lpwstr>GPL Ghostscript 9.56.1</vt:lpwstr>
  </property>
</Properties>
</file>